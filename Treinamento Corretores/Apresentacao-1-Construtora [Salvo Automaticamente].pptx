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8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019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DE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rgbClr val="FFDE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GUIA DO REPRESENTANTE B&amp;B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Caminho Construtora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14400" y="3886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9C9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qualificar a obra e virar a especificação em proposta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i="1" dirty="0">
                <a:solidFill>
                  <a:srgbClr val="FFDE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Na medida. No prazo. Na norma.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9A9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Soluções Metálicas para Urbanismo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B6B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POR QUE CARREGAR A B&amp;B NA SUA PASTA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Você não vende sozinho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240280"/>
            <a:ext cx="384048" cy="384048"/>
          </a:xfrm>
          <a:prstGeom prst="ellipse">
            <a:avLst/>
          </a:prstGeom>
          <a:solidFill>
            <a:srgbClr val="FFDE0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2219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Detalhamento técnico pronto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2807208"/>
            <a:ext cx="4727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Datasheet e desenho de cada produto para anexar ao memorial.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engenharia da B&amp;B responde dúvida de projeto.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0488" y="196596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83096" y="2240280"/>
            <a:ext cx="384048" cy="384048"/>
          </a:xfrm>
          <a:prstGeom prst="ellipse">
            <a:avLst/>
          </a:prstGeom>
          <a:solidFill>
            <a:srgbClr val="FFDE00"/>
          </a:solidFill>
          <a:ln/>
        </p:spPr>
      </p:sp>
      <p:sp>
        <p:nvSpPr>
          <p:cNvPr id="11" name="Text 9"/>
          <p:cNvSpPr/>
          <p:nvPr/>
        </p:nvSpPr>
        <p:spPr>
          <a:xfrm>
            <a:off x="6483096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59168" y="22219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Norma documentada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01384" y="2807208"/>
            <a:ext cx="4727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Galvanização a fogo (NBR 6323) e engaste (NBR 14744).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Você entrega o documento, não a promessa.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24528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498848"/>
            <a:ext cx="384048" cy="384048"/>
          </a:xfrm>
          <a:prstGeom prst="ellipse">
            <a:avLst/>
          </a:prstGeom>
          <a:solidFill>
            <a:srgbClr val="FFDE0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480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Prazo que não queima seu nome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9536" y="5065776"/>
            <a:ext cx="4727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Fábrica própria, ~500 </a:t>
            </a:r>
            <a:r>
              <a:rPr lang="en-US" sz="1250" dirty="0" err="1">
                <a:solidFill>
                  <a:srgbClr val="3A3A3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postes</a:t>
            </a:r>
            <a:r>
              <a:rPr lang="en-US" sz="1250" dirty="0">
                <a:solidFill>
                  <a:srgbClr val="3A3A3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/mês.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prazo dito é o prazo cumprido.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90488" y="4224528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83096" y="4498848"/>
            <a:ext cx="384048" cy="384048"/>
          </a:xfrm>
          <a:prstGeom prst="ellipse">
            <a:avLst/>
          </a:prstGeom>
          <a:solidFill>
            <a:srgbClr val="FFDE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83096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59168" y="4480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Material de apoio completo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01384" y="5065776"/>
            <a:ext cx="4727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Guia, mini-catálogo, pasta de proposta, datasheets no site e peças de WhatsApp prontas.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B&amp;B · Soluções Metálicas para Urbanismo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B6B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 POSICIONAMENTO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 argumento em uma frase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164592" cy="1828800"/>
          </a:xfrm>
          <a:prstGeom prst="rect">
            <a:avLst/>
          </a:prstGeom>
          <a:solidFill>
            <a:srgbClr val="FFDE0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488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 B&amp;B é a única fábrica de soluções metálicas para o urbanismo que entrega cada produto com rigor e documentação de engenharia — norma, detalhamento e acabamento premium — para quem compra em escala e não pode arriscar reprovação, retrabalho ou atraso.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26151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445312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+30.000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2578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postes entregues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38144" y="4160520"/>
            <a:ext cx="26151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38144" y="445312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38144" y="52578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estados atendidos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27648" y="4160520"/>
            <a:ext cx="26151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27648" y="445312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~20 t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27648" y="52578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capacidade / mês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17152" y="4160520"/>
            <a:ext cx="26151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17152" y="445312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2017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217152" y="52578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fábrica própria desde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B&amp;B · Soluções Metálicas para Urbanismo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B6B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ONDE ESTÁ O RESULTADO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Quem é o cliente que dá resultado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Poste vende para muita gente. Volume, recorrência e ticket vêm de quem compra em escala e responde por norma e prazo.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560320"/>
            <a:ext cx="384048" cy="384048"/>
          </a:xfrm>
          <a:prstGeom prst="ellipse">
            <a:avLst/>
          </a:prstGeom>
          <a:solidFill>
            <a:srgbClr val="FFDE0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5420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Concessionárias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3127248"/>
            <a:ext cx="4727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Pedágio, rodovia, ciclovia, parques. Alto volume, recorrência por anos, decisão técnica. O poste é ativo de longo prazo na via.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0528" y="2560320"/>
            <a:ext cx="384048" cy="384048"/>
          </a:xfrm>
          <a:prstGeom prst="ellipse">
            <a:avLst/>
          </a:prstGeom>
          <a:solidFill>
            <a:srgbClr val="FFDE00"/>
          </a:solidFill>
          <a:ln/>
        </p:spPr>
      </p:sp>
      <p:sp>
        <p:nvSpPr>
          <p:cNvPr id="12" name="Text 10"/>
          <p:cNvSpPr/>
          <p:nvPr/>
        </p:nvSpPr>
        <p:spPr>
          <a:xfrm>
            <a:off x="6510528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5420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Construtoras de infra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28816" y="3127248"/>
            <a:ext cx="4727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Viaduto, ponte, praça, revitalização. Cronograma crítico — poste fora de norma trava a obra inteira.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4709160"/>
            <a:ext cx="384048" cy="384048"/>
          </a:xfrm>
          <a:prstGeom prst="ellipse">
            <a:avLst/>
          </a:prstGeom>
          <a:solidFill>
            <a:srgbClr val="FFDE00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6908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Urbanizadoras / loteadoras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" y="5276088"/>
            <a:ext cx="4727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100–400 postes de uma vez. A concessionária de energia só aprova a entrega se a iluminação estiver na norma.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443484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0528" y="4709160"/>
            <a:ext cx="384048" cy="384048"/>
          </a:xfrm>
          <a:prstGeom prst="ellipse">
            <a:avLst/>
          </a:prstGeom>
          <a:solidFill>
            <a:srgbClr val="FFDE00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6600" y="46908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Logística e pátios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28816" y="5276088"/>
            <a:ext cx="4727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CDs, portos secos, pátios. Iluminação e segurança perimetral em volume. Decisão rápida e operacional.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B&amp;B · Soluções Metálicas para Urbanismo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B6B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MUNIÇÃO DE VENDA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Prazos de fabricação (dias úteis)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2880360"/>
        </p:xfrm>
        <a:graphic>
          <a:graphicData uri="http://schemas.openxmlformats.org/drawingml/2006/table">
            <a:tbl>
              <a:tblPr/>
              <a:tblGrid>
                <a:gridCol w="4663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DE0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Volume do pedido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Pintados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Galvanizados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Até 100 postes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10 dias úteis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15 dias úteis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100 a 200 postes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15 dias úteis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20 dias úteis</a:t>
                      </a:r>
                      <a:endParaRPr lang="en-US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Acima de 200 postes</a:t>
                      </a:r>
                      <a:endParaRPr lang="en-US" sz="14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3A3A38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Plano de produção e entrega programado com o cliente</a:t>
                      </a:r>
                      <a:endParaRPr lang="en-US" sz="13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DE00"/>
          </a:solidFill>
          <a:ln/>
        </p:spPr>
      </p:sp>
      <p:sp>
        <p:nvSpPr>
          <p:cNvPr id="4" name="Text 3"/>
          <p:cNvSpPr/>
          <p:nvPr/>
        </p:nvSpPr>
        <p:spPr>
          <a:xfrm>
            <a:off x="868680" y="513892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Acima de 200 não é “prazo maior” — é argumento de venda. </a:t>
            </a:r>
            <a:r>
              <a:rPr lang="en-US" sz="14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Ninguém instala 200 postes de uma vez. A B&amp;B entrega faseado, no ritmo da obra: sem pátio lotado, sem capital parado.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B&amp;B · Soluções Metálicas para Urbanismo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B6B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OS TRÊS CAMINHOS DE VENDA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Qual é o seu caminho?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958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251460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9536" y="2926080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Revenda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9536" y="3840480"/>
            <a:ext cx="2907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A3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Vende através do balcão. Treina o vendedor e cota na hora pelo WhatsApp.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8264" y="2148840"/>
            <a:ext cx="3529584" cy="3108960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98264" y="2148840"/>
            <a:ext cx="3529584" cy="146304"/>
          </a:xfrm>
          <a:prstGeom prst="rect">
            <a:avLst/>
          </a:prstGeom>
          <a:solidFill>
            <a:srgbClr val="FFDE00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51460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DE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 SEU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2926080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Construtora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9160" y="3840480"/>
            <a:ext cx="2907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C9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Qualifica a obra: área externa, memorial, quem especifica, fase.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47888" y="2148840"/>
            <a:ext cx="352958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58784" y="251460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58784" y="2926080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Pasta de iluminação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558784" y="3840480"/>
            <a:ext cx="2907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A3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Poste como complemento técnico do projeto luminotécnico.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B&amp;B · Soluções Metálicas para Urbanismo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DE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FFDE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 SEU CAMINHO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97180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Construtora: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quem entra na especificação, ganha a obra.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B&amp;B · Soluções Metálicas para Urbanismo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B6B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ROTEIRO DE QUALIFICAÇÃO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As 5 perguntas que destravam a obra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12264"/>
            <a:ext cx="457200" cy="457200"/>
          </a:xfrm>
          <a:prstGeom prst="ellipse">
            <a:avLst/>
          </a:prstGeom>
          <a:solidFill>
            <a:srgbClr val="FFDE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obra tem área externa a iluminar? (vias, estacionamento, praça, perímetro)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3512"/>
            <a:ext cx="457200" cy="457200"/>
          </a:xfrm>
          <a:prstGeom prst="ellipse">
            <a:avLst/>
          </a:prstGeom>
          <a:solidFill>
            <a:srgbClr val="FFDE0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807208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existe projeto luminotécnico ou memorial descritivo?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rgbClr val="FFDE0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648456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Quem especifica — projetista, engenharia da obra ou suprimentos?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636008"/>
            <a:ext cx="457200" cy="457200"/>
          </a:xfrm>
          <a:prstGeom prst="ellipse">
            <a:avLst/>
          </a:prstGeom>
          <a:solidFill>
            <a:srgbClr val="FFDE0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489704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que fase está a obra? (projeto, execução, energização)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33095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477256"/>
            <a:ext cx="457200" cy="457200"/>
          </a:xfrm>
          <a:prstGeom prst="ellipse">
            <a:avLst/>
          </a:prstGeom>
          <a:solidFill>
            <a:srgbClr val="FFDE0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477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5330952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Já tem fornecedor cotado para os postes?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B&amp;B · Soluções Metálicas para Urbanismo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B6B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 DECISÃO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Tem memorial? A resposta muda o seu jogo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4406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57400"/>
            <a:ext cx="5440680" cy="146304"/>
          </a:xfrm>
          <a:prstGeom prst="rect">
            <a:avLst/>
          </a:prstGeom>
          <a:solidFill>
            <a:srgbClr val="9DC88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SIM, TEM MEMORIAL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3A3A3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Peça o descritivo e mande para a B&amp;B. A engenharia confere a especificação e devolve a proposta com o datasheet anexo. Você entra como cotação técnica — não briga só por preço.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5440680" cy="3566160"/>
          </a:xfrm>
          <a:prstGeom prst="roundRect">
            <a:avLst>
              <a:gd name="adj" fmla="val 3077"/>
            </a:avLst>
          </a:prstGeom>
          <a:solidFill>
            <a:srgbClr val="1A1A1A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2057400"/>
            <a:ext cx="5440680" cy="146304"/>
          </a:xfrm>
          <a:prstGeom prst="rect">
            <a:avLst/>
          </a:prstGeom>
          <a:solidFill>
            <a:srgbClr val="FFDE00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377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DE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NÃO TEM MEMORIAL — SEU GANCHO DE OURO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31546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D8D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Ofereça o apoio de especificação da B&amp;B: a engenharia ajuda a definir altura, esforço e fixação. Quem ajuda a especificar, fornece — e deixa o concorrente cotando a sua especificação.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B&amp;B · Soluções Metálicas para Urbanismo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B6B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 OLHO A OLHO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Objeções e respostas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65960"/>
            <a:ext cx="146304" cy="1325880"/>
          </a:xfrm>
          <a:prstGeom prst="rect">
            <a:avLst/>
          </a:prstGeom>
          <a:solidFill>
            <a:srgbClr val="FFDE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305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“O galvanizado do fulano é mais barato.”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58775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A3A3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Mais barato até a fiscalização. Quem assina a conformidade desse poste? O da B&amp;B vem com datasheet e galvanização NBR 6323 documentada.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429000"/>
            <a:ext cx="146304" cy="1325880"/>
          </a:xfrm>
          <a:prstGeom prst="rect">
            <a:avLst/>
          </a:prstGeom>
          <a:solidFill>
            <a:srgbClr val="FFDE0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593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“Já temos fornecedor.”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0507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A3A3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Não peço a troca — me dá uma cotação comparativa com a documentação na mesa. Se o seu atual entrega o mesmo padrão, você perdeu 10 minutos.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892040"/>
            <a:ext cx="146304" cy="1325880"/>
          </a:xfrm>
          <a:prstGeom prst="rect">
            <a:avLst/>
          </a:prstGeom>
          <a:solidFill>
            <a:srgbClr val="FFDE0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0566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“E o prazo? Estou com a obra na rua.”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551383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A3A3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Fábrica própria. Até 100 postes: 10 dias pintados, 15 galvanizados. Acima de 200, plano de entrega faseado no seu ritmo.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B&amp;B · Soluções Metálicas para Urbanismo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B6B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FECHANDO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 que enviar à B&amp;B para a proposta sair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12848"/>
            <a:ext cx="274320" cy="274320"/>
          </a:xfrm>
          <a:prstGeom prst="rect">
            <a:avLst/>
          </a:prstGeom>
          <a:solidFill>
            <a:srgbClr val="FFDE00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2011680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Memorial descritivo ou planta da área externa (ou: área, uso, pé-direito)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79776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980944"/>
            <a:ext cx="274320" cy="274320"/>
          </a:xfrm>
          <a:prstGeom prst="rect">
            <a:avLst/>
          </a:prstGeom>
          <a:solidFill>
            <a:srgbClr val="FFDE00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2779776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Quantidade estimada de pontos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47872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749040"/>
            <a:ext cx="274320" cy="274320"/>
          </a:xfrm>
          <a:prstGeom prst="rect">
            <a:avLst/>
          </a:prstGeom>
          <a:solidFill>
            <a:srgbClr val="FFDE00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3547872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Altura/modelo, se já especificado (ex.: TCS 9m flangeado)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517136"/>
            <a:ext cx="274320" cy="274320"/>
          </a:xfrm>
          <a:prstGeom prst="rect">
            <a:avLst/>
          </a:prstGeom>
          <a:solidFill>
            <a:srgbClr val="FFDE00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4315968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Prazo da obra / data de energização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84064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5285232"/>
            <a:ext cx="274320" cy="274320"/>
          </a:xfrm>
          <a:prstGeom prst="rect">
            <a:avLst/>
          </a:prstGeom>
          <a:solidFill>
            <a:srgbClr val="FFDE00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5084064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Cidade da obra (frete) e contato do engenheiro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B&amp;B · Soluções Metálicas para Urbanismo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DE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FFDE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PRÓXIMO PASSO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Memorial ou planta da área externa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em mãos → envie à B&amp;B e a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proposta sai com datasheet anexo.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4663440"/>
            <a:ext cx="10332720" cy="1280160"/>
          </a:xfrm>
          <a:prstGeom prst="roundRect">
            <a:avLst>
              <a:gd name="adj" fmla="val 7143"/>
            </a:avLst>
          </a:pr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48463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DE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Engenharia / cotação B&amp;B
</a:t>
            </a:r>
            <a:r>
              <a:rPr lang="en-US" sz="1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Lucas — WhatsApp (62) 98243-5286   ·   contato@bebiluminacao.com   ·   bebiluminacao.com.br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1406</TotalTime>
  <Words>1010</Words>
  <Application>Microsoft Macintosh PowerPoint</Application>
  <PresentationFormat>Widescreen</PresentationFormat>
  <Paragraphs>144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Nunito</vt:lpstr>
      <vt:lpstr>Rubik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Guia do Representante B&amp;B — Caminho Construtora</dc:title>
  <dc:subject>PptxGenJS Presentation</dc:subject>
  <dc:creator>B&amp;B Iluminação</dc:creator>
  <cp:lastModifiedBy>Lucas Borges</cp:lastModifiedBy>
  <cp:revision>2</cp:revision>
  <dcterms:created xsi:type="dcterms:W3CDTF">2026-06-13T12:43:15Z</dcterms:created>
  <dcterms:modified xsi:type="dcterms:W3CDTF">2026-06-25T17:45:45Z</dcterms:modified>
</cp:coreProperties>
</file>