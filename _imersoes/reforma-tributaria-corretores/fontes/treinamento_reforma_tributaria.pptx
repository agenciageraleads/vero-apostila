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puertas.blogspot.com/2016/10/las-crisis-los-cuatro-peldanos-para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antosbancarios.com.br/artigo/entenda-as-principais-mudancas-da-reforma-tributaria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pt-BR" sz="3850"/>
              <a:t>Reforma Tributária - Brasil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pt-BR" sz="2100"/>
              <a:t>Mudança estrutural no sistema tributário</a:t>
            </a:r>
          </a:p>
          <a:p>
            <a:r>
              <a:rPr lang="pt-BR" sz="2100"/>
              <a:t>Impacto direto na estratégia empresarial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3DFF0FAC-0B2E-088B-DB46-EA6431D78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 dirty="0"/>
              <a:t>Contexto Atual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FED7B4-3F9A-1242-4CB6-5586E6AD8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8789" b="17805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2800" dirty="0"/>
              <a:t>Sistema complexo</a:t>
            </a:r>
          </a:p>
          <a:p>
            <a:r>
              <a:rPr lang="pt-BR" sz="2800" dirty="0"/>
              <a:t>Cumulatividade</a:t>
            </a:r>
          </a:p>
          <a:p>
            <a:r>
              <a:rPr lang="pt-BR" sz="2800" dirty="0"/>
              <a:t>Alta carga operacional</a:t>
            </a:r>
          </a:p>
          <a:p>
            <a:r>
              <a:rPr lang="pt-BR" sz="2800" dirty="0"/>
              <a:t>Guerra fiscal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347B05-B650-F2D4-3A73-B8E75E82C3C6}"/>
              </a:ext>
            </a:extLst>
          </p:cNvPr>
          <p:cNvSpPr txBox="1"/>
          <p:nvPr/>
        </p:nvSpPr>
        <p:spPr>
          <a:xfrm>
            <a:off x="6811310" y="6657945"/>
            <a:ext cx="233269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francescpuertas.blogspot.com/2016/10/las-crisis-los-cuatro-peldanos-para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pt-BR"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Novo Modelo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D1E288-6625-F424-185D-5C17BD3F5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627" b="1377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CBS (Federal)</a:t>
            </a:r>
          </a:p>
          <a:p>
            <a:r>
              <a:rPr lang="pt-BR" sz="1600"/>
              <a:t>IBS (Estados e Municípios)</a:t>
            </a:r>
          </a:p>
          <a:p>
            <a:r>
              <a:rPr lang="pt-BR" sz="1600"/>
              <a:t>Imposto Seletivo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B50182-86BA-B2BE-4FDB-4CEC7F515B6E}"/>
              </a:ext>
            </a:extLst>
          </p:cNvPr>
          <p:cNvSpPr txBox="1"/>
          <p:nvPr/>
        </p:nvSpPr>
        <p:spPr>
          <a:xfrm>
            <a:off x="6678261" y="6657945"/>
            <a:ext cx="246573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santosbancarios.com.br/artigo/entenda-as-principais-mudancas-da-reforma-tributaria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pt-BR"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Conceito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A2085-D5ED-1FAA-0B7F-9CB292A3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12" b="17346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Não cumulatividade</a:t>
            </a:r>
          </a:p>
          <a:p>
            <a:r>
              <a:rPr lang="pt-BR" sz="1600"/>
              <a:t>Tributação sobre valor agregado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Tributação no Destino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9E452-CC2C-E91C-43AC-0F1CFD69B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29" b="7329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Imposto vai para onde está o cliente</a:t>
            </a:r>
          </a:p>
          <a:p>
            <a:r>
              <a:rPr lang="pt-BR" sz="1600"/>
              <a:t>Fim da vantagem por localização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Impacto por Setor</a:t>
            </a:r>
          </a:p>
        </p:txBody>
      </p:sp>
      <p:pic>
        <p:nvPicPr>
          <p:cNvPr id="5" name="Picture 4" descr="Caixas Em Estante de Armazém">
            <a:extLst>
              <a:ext uri="{FF2B5EF4-FFF2-40B4-BE49-F238E27FC236}">
                <a16:creationId xmlns:a16="http://schemas.microsoft.com/office/drawing/2014/main" id="{67464C25-E082-0411-F125-14F2B5A4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87" b="2312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Indústria: tende a ganhar</a:t>
            </a:r>
          </a:p>
          <a:p>
            <a:r>
              <a:rPr lang="pt-BR" sz="1600"/>
              <a:t>Comércio: pressão de margem</a:t>
            </a:r>
          </a:p>
          <a:p>
            <a:r>
              <a:rPr lang="pt-BR" sz="1600"/>
              <a:t>Serviços: maior impacto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Ações Necessárias</a:t>
            </a:r>
          </a:p>
        </p:txBody>
      </p:sp>
      <p:pic>
        <p:nvPicPr>
          <p:cNvPr id="5" name="Picture 4" descr="Foto inclinada de caneta em um gráfico">
            <a:extLst>
              <a:ext uri="{FF2B5EF4-FFF2-40B4-BE49-F238E27FC236}">
                <a16:creationId xmlns:a16="http://schemas.microsoft.com/office/drawing/2014/main" id="{5B4D3EC8-14D2-3135-C3B1-706886C2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79" b="18028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Revisar preços</a:t>
            </a:r>
          </a:p>
          <a:p>
            <a:r>
              <a:rPr lang="pt-BR" sz="1600"/>
              <a:t>Revisar fornecedores</a:t>
            </a:r>
          </a:p>
          <a:p>
            <a:r>
              <a:rPr lang="pt-BR" sz="1600"/>
              <a:t>Ajustar contratos</a:t>
            </a:r>
          </a:p>
          <a:p>
            <a:r>
              <a:rPr lang="pt-BR" sz="1600"/>
              <a:t>Atualizar sistemas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Cronograma</a:t>
            </a:r>
          </a:p>
        </p:txBody>
      </p:sp>
      <p:pic>
        <p:nvPicPr>
          <p:cNvPr id="5" name="Picture 4" descr="Close da vista de uma pista de atletismo no escuro">
            <a:extLst>
              <a:ext uri="{FF2B5EF4-FFF2-40B4-BE49-F238E27FC236}">
                <a16:creationId xmlns:a16="http://schemas.microsoft.com/office/drawing/2014/main" id="{F3BC6630-0ECC-14F7-7CE2-261BA559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06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2026 início</a:t>
            </a:r>
          </a:p>
          <a:p>
            <a:r>
              <a:rPr lang="pt-BR" sz="1600"/>
              <a:t>Transição até 2032</a:t>
            </a:r>
          </a:p>
          <a:p>
            <a:r>
              <a:rPr lang="pt-BR" sz="1600"/>
              <a:t>Modelo completo após 2033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3100"/>
              <a:t>Riscos</a:t>
            </a:r>
          </a:p>
        </p:txBody>
      </p:sp>
      <p:pic>
        <p:nvPicPr>
          <p:cNvPr id="5" name="Picture 4" descr="Códigos em papéis">
            <a:extLst>
              <a:ext uri="{FF2B5EF4-FFF2-40B4-BE49-F238E27FC236}">
                <a16:creationId xmlns:a16="http://schemas.microsoft.com/office/drawing/2014/main" id="{A2CF723A-2A32-76BB-E069-776F06EB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46" b="2386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Perda de margem</a:t>
            </a:r>
          </a:p>
          <a:p>
            <a:r>
              <a:rPr lang="pt-BR" sz="1600"/>
              <a:t>Preço errado</a:t>
            </a:r>
          </a:p>
          <a:p>
            <a:r>
              <a:rPr lang="pt-BR" sz="1600"/>
              <a:t>Falta de crédito</a:t>
            </a:r>
          </a:p>
          <a:p>
            <a:r>
              <a:rPr lang="pt-BR" sz="1600"/>
              <a:t>Sistemas despreparados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BR" sz="2900"/>
              <a:t>Oportunidades</a:t>
            </a:r>
          </a:p>
        </p:txBody>
      </p:sp>
      <p:pic>
        <p:nvPicPr>
          <p:cNvPr id="5" name="Picture 4" descr="Pessoas trabalhando em novas ideias">
            <a:extLst>
              <a:ext uri="{FF2B5EF4-FFF2-40B4-BE49-F238E27FC236}">
                <a16:creationId xmlns:a16="http://schemas.microsoft.com/office/drawing/2014/main" id="{9CB30E56-545C-3B36-937F-391059F9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00" b="18746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BR" sz="1600"/>
              <a:t>Simplificação</a:t>
            </a:r>
          </a:p>
          <a:p>
            <a:r>
              <a:rPr lang="pt-BR" sz="1600"/>
              <a:t>Previsibilidade</a:t>
            </a:r>
          </a:p>
          <a:p>
            <a:r>
              <a:rPr lang="pt-BR" sz="1600"/>
              <a:t>Vantagem competitiva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de engrenagens">
            <a:extLst>
              <a:ext uri="{FF2B5EF4-FFF2-40B4-BE49-F238E27FC236}">
                <a16:creationId xmlns:a16="http://schemas.microsoft.com/office/drawing/2014/main" id="{207E1105-492D-5A1E-4B7B-B92D7A3BF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46" r="3621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E71642-0EBE-C4AF-EC13-ED50C326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"/>
            <a:ext cx="4234543" cy="6455228"/>
          </a:xfrm>
        </p:spPr>
        <p:txBody>
          <a:bodyPr anchor="ctr">
            <a:normAutofit/>
          </a:bodyPr>
          <a:lstStyle/>
          <a:p>
            <a:r>
              <a:rPr lang="pt-BR" sz="1700" b="1" dirty="0"/>
              <a:t>EXEMPLO PRÁTICO</a:t>
            </a:r>
            <a:endParaRPr lang="pt-BR" sz="1700" dirty="0"/>
          </a:p>
          <a:p>
            <a:r>
              <a:rPr lang="pt-BR" sz="1700" b="1" dirty="0"/>
              <a:t>Como a Reforma Tributária afeta uma indústria</a:t>
            </a:r>
            <a:endParaRPr lang="pt-BR" sz="1700" dirty="0"/>
          </a:p>
          <a:p>
            <a:r>
              <a:rPr lang="pt-BR" sz="1700" dirty="0"/>
              <a:t>Imagine uma indústria fictícia:</a:t>
            </a:r>
          </a:p>
          <a:p>
            <a:r>
              <a:rPr lang="pt-BR" sz="1700" b="1" dirty="0"/>
              <a:t>Indústria Alfa (metalúrgica)</a:t>
            </a:r>
            <a:endParaRPr lang="pt-BR" sz="1700" dirty="0"/>
          </a:p>
          <a:p>
            <a:pPr lvl="0"/>
            <a:r>
              <a:rPr lang="pt-BR" sz="1700" dirty="0"/>
              <a:t>Faturamento mensal: R$ 1.000.000 </a:t>
            </a:r>
          </a:p>
          <a:p>
            <a:pPr lvl="0"/>
            <a:r>
              <a:rPr lang="pt-BR" sz="1700" dirty="0"/>
              <a:t>Compra de insumos: R$ 400.000 </a:t>
            </a:r>
          </a:p>
          <a:p>
            <a:pPr lvl="0"/>
            <a:r>
              <a:rPr lang="pt-BR" sz="1700" dirty="0"/>
              <a:t>Regime atual: Lucro Presumido </a:t>
            </a:r>
          </a:p>
          <a:p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841417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10E68F-4F28-18D6-AA77-A1BB776B8DD9}"/>
              </a:ext>
            </a:extLst>
          </p:cNvPr>
          <p:cNvSpPr txBox="1"/>
          <p:nvPr/>
        </p:nvSpPr>
        <p:spPr>
          <a:xfrm>
            <a:off x="261257" y="2131897"/>
            <a:ext cx="8621485" cy="4282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effectLst/>
              </a:rPr>
              <a:t>CENÁRIO ATUAL (ANTES DA REFORMA)</a:t>
            </a:r>
            <a:endParaRPr lang="en-US" sz="19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 err="1">
                <a:effectLst/>
              </a:rPr>
              <a:t>Tributos</a:t>
            </a:r>
            <a:r>
              <a:rPr lang="en-US" sz="1900" b="1" dirty="0">
                <a:effectLst/>
              </a:rPr>
              <a:t> </a:t>
            </a:r>
            <a:r>
              <a:rPr lang="en-US" sz="1900" b="1" dirty="0" err="1">
                <a:effectLst/>
              </a:rPr>
              <a:t>pagos</a:t>
            </a:r>
            <a:r>
              <a:rPr lang="en-US" sz="1900" b="1" dirty="0">
                <a:effectLst/>
              </a:rPr>
              <a:t>:</a:t>
            </a:r>
            <a:endParaRPr lang="en-US" sz="1900" dirty="0">
              <a:effectLst/>
            </a:endParaRP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b="1" dirty="0">
                <a:effectLst/>
              </a:rPr>
              <a:t>PIS/</a:t>
            </a:r>
            <a:r>
              <a:rPr lang="en-US" sz="1900" b="1" dirty="0" err="1">
                <a:effectLst/>
              </a:rPr>
              <a:t>Cofins</a:t>
            </a:r>
            <a:r>
              <a:rPr lang="en-US" sz="1900" b="1" dirty="0">
                <a:effectLst/>
              </a:rPr>
              <a:t> (</a:t>
            </a:r>
            <a:r>
              <a:rPr lang="en-US" sz="1900" b="1" dirty="0" err="1">
                <a:effectLst/>
              </a:rPr>
              <a:t>cumulativo</a:t>
            </a:r>
            <a:r>
              <a:rPr lang="en-US" sz="1900" b="1" dirty="0">
                <a:effectLst/>
              </a:rPr>
              <a:t>)</a:t>
            </a:r>
            <a:r>
              <a:rPr lang="en-US" sz="1900" dirty="0">
                <a:effectLst/>
              </a:rPr>
              <a:t>: ~3,65% → R$ 36.500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b="1" dirty="0">
                <a:effectLst/>
              </a:rPr>
              <a:t>ICMS (</a:t>
            </a:r>
            <a:r>
              <a:rPr lang="en-US" sz="1900" b="1" dirty="0" err="1">
                <a:effectLst/>
              </a:rPr>
              <a:t>média</a:t>
            </a:r>
            <a:r>
              <a:rPr lang="en-US" sz="1900" b="1" dirty="0">
                <a:effectLst/>
              </a:rPr>
              <a:t> 18%)</a:t>
            </a:r>
            <a:r>
              <a:rPr lang="en-US" sz="1900" dirty="0">
                <a:effectLst/>
              </a:rPr>
              <a:t>: R$ 180.000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b="1" dirty="0">
                <a:effectLst/>
              </a:rPr>
              <a:t>IPI (</a:t>
            </a:r>
            <a:r>
              <a:rPr lang="en-US" sz="1900" b="1" dirty="0" err="1">
                <a:effectLst/>
              </a:rPr>
              <a:t>exemplo</a:t>
            </a:r>
            <a:r>
              <a:rPr lang="en-US" sz="1900" b="1" dirty="0">
                <a:effectLst/>
              </a:rPr>
              <a:t> 5%)</a:t>
            </a:r>
            <a:r>
              <a:rPr lang="en-US" sz="1900" dirty="0">
                <a:effectLst/>
              </a:rPr>
              <a:t>: R$ 50.000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👉 </a:t>
            </a:r>
            <a:r>
              <a:rPr lang="en-US" sz="1900" b="1" dirty="0">
                <a:effectLst/>
              </a:rPr>
              <a:t>Total </a:t>
            </a:r>
            <a:r>
              <a:rPr lang="en-US" sz="1900" b="1" dirty="0" err="1">
                <a:effectLst/>
              </a:rPr>
              <a:t>aproximado</a:t>
            </a:r>
            <a:r>
              <a:rPr lang="en-US" sz="1900" b="1" dirty="0">
                <a:effectLst/>
              </a:rPr>
              <a:t> de </a:t>
            </a:r>
            <a:r>
              <a:rPr lang="en-US" sz="1900" b="1" dirty="0" err="1">
                <a:effectLst/>
              </a:rPr>
              <a:t>tributos</a:t>
            </a:r>
            <a:r>
              <a:rPr lang="en-US" sz="1900" b="1" dirty="0">
                <a:effectLst/>
              </a:rPr>
              <a:t>:</a:t>
            </a:r>
            <a:br>
              <a:rPr lang="en-US" sz="1900" dirty="0">
                <a:effectLst/>
              </a:rPr>
            </a:br>
            <a:r>
              <a:rPr lang="en-US" sz="1900" dirty="0">
                <a:effectLst/>
              </a:rPr>
              <a:t>💰 </a:t>
            </a:r>
            <a:r>
              <a:rPr lang="en-US" sz="1900" b="1" dirty="0">
                <a:effectLst/>
              </a:rPr>
              <a:t>R$ 266.500</a:t>
            </a:r>
            <a:endParaRPr lang="en-US" sz="19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⚠️ Problemas do </a:t>
            </a:r>
            <a:r>
              <a:rPr lang="en-US" sz="1900" dirty="0" err="1">
                <a:effectLst/>
              </a:rPr>
              <a:t>modelo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atual</a:t>
            </a:r>
            <a:r>
              <a:rPr lang="en-US" sz="1900" dirty="0">
                <a:effectLst/>
              </a:rPr>
              <a:t>: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 err="1">
                <a:effectLst/>
              </a:rPr>
              <a:t>Cumulatividade</a:t>
            </a:r>
            <a:r>
              <a:rPr lang="en-US" sz="1900" dirty="0">
                <a:effectLst/>
              </a:rPr>
              <a:t> (</a:t>
            </a:r>
            <a:r>
              <a:rPr lang="en-US" sz="1900" dirty="0" err="1">
                <a:effectLst/>
              </a:rPr>
              <a:t>imposto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sobre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imposto</a:t>
            </a:r>
            <a:r>
              <a:rPr lang="en-US" sz="1900" dirty="0">
                <a:effectLst/>
              </a:rPr>
              <a:t>)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>
                <a:effectLst/>
              </a:rPr>
              <a:t>Crédito </a:t>
            </a:r>
            <a:r>
              <a:rPr lang="en-US" sz="1900" dirty="0" err="1">
                <a:effectLst/>
              </a:rPr>
              <a:t>limitado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ou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inexistente</a:t>
            </a:r>
            <a:r>
              <a:rPr lang="en-US" sz="19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 err="1">
                <a:effectLst/>
              </a:rPr>
              <a:t>Complexidade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absurda</a:t>
            </a:r>
            <a:r>
              <a:rPr lang="en-US" sz="1900" dirty="0">
                <a:effectLst/>
              </a:rPr>
              <a:t> (</a:t>
            </a:r>
            <a:r>
              <a:rPr lang="en-US" sz="1900" dirty="0" err="1">
                <a:effectLst/>
              </a:rPr>
              <a:t>cada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estado</a:t>
            </a:r>
            <a:r>
              <a:rPr lang="en-US" sz="1900" dirty="0">
                <a:effectLst/>
              </a:rPr>
              <a:t> um </a:t>
            </a:r>
            <a:r>
              <a:rPr lang="en-US" sz="1900" dirty="0" err="1">
                <a:effectLst/>
              </a:rPr>
              <a:t>jogo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diferente</a:t>
            </a:r>
            <a:r>
              <a:rPr lang="en-US" sz="1900" dirty="0">
                <a:effectLst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70523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A357C4-74E9-ED55-2AF9-A62AF2B71068}"/>
              </a:ext>
            </a:extLst>
          </p:cNvPr>
          <p:cNvSpPr txBox="1"/>
          <p:nvPr/>
        </p:nvSpPr>
        <p:spPr>
          <a:xfrm>
            <a:off x="250371" y="2217343"/>
            <a:ext cx="802695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CENÁRIO NOVO (APÓS A REFORMA)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Com a </a:t>
            </a:r>
            <a:r>
              <a:rPr lang="en-US" sz="2100" dirty="0" err="1">
                <a:effectLst/>
              </a:rPr>
              <a:t>reforma</a:t>
            </a:r>
            <a:r>
              <a:rPr lang="en-US" sz="2100" dirty="0">
                <a:effectLst/>
              </a:rPr>
              <a:t>, </a:t>
            </a:r>
            <a:r>
              <a:rPr lang="en-US" sz="2100" dirty="0" err="1">
                <a:effectLst/>
              </a:rPr>
              <a:t>entram</a:t>
            </a:r>
            <a:r>
              <a:rPr lang="en-US" sz="2100" dirty="0">
                <a:effectLst/>
              </a:rPr>
              <a:t>: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b="1" dirty="0">
                <a:effectLst/>
              </a:rPr>
              <a:t>CBS (federal)</a:t>
            </a:r>
            <a:r>
              <a:rPr lang="en-US" sz="21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b="1" dirty="0">
                <a:effectLst/>
              </a:rPr>
              <a:t>IBS (</a:t>
            </a:r>
            <a:r>
              <a:rPr lang="en-US" sz="2100" b="1" dirty="0" err="1">
                <a:effectLst/>
              </a:rPr>
              <a:t>estadual</a:t>
            </a:r>
            <a:r>
              <a:rPr lang="en-US" sz="2100" b="1" dirty="0">
                <a:effectLst/>
              </a:rPr>
              <a:t>/municipal)</a:t>
            </a:r>
            <a:r>
              <a:rPr lang="en-US" sz="21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dirty="0">
                <a:effectLst/>
              </a:rPr>
              <a:t>Modelo: </a:t>
            </a:r>
            <a:r>
              <a:rPr lang="en-US" sz="2100" b="1" dirty="0">
                <a:effectLst/>
              </a:rPr>
              <a:t>IVA (</a:t>
            </a:r>
            <a:r>
              <a:rPr lang="en-US" sz="2100" b="1" dirty="0" err="1">
                <a:effectLst/>
              </a:rPr>
              <a:t>não</a:t>
            </a:r>
            <a:r>
              <a:rPr lang="en-US" sz="2100" b="1" dirty="0">
                <a:effectLst/>
              </a:rPr>
              <a:t> </a:t>
            </a:r>
            <a:r>
              <a:rPr lang="en-US" sz="2100" b="1" dirty="0" err="1">
                <a:effectLst/>
              </a:rPr>
              <a:t>cumulativo</a:t>
            </a:r>
            <a:r>
              <a:rPr lang="en-US" sz="2100" b="1" dirty="0">
                <a:effectLst/>
              </a:rPr>
              <a:t>)</a:t>
            </a:r>
            <a:r>
              <a:rPr lang="en-US" sz="2100" dirty="0">
                <a:effectLst/>
              </a:rPr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Vamos </a:t>
            </a:r>
            <a:r>
              <a:rPr lang="en-US" sz="2100" dirty="0" err="1">
                <a:effectLst/>
              </a:rPr>
              <a:t>supor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uma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alíquota</a:t>
            </a:r>
            <a:r>
              <a:rPr lang="en-US" sz="2100" dirty="0">
                <a:effectLst/>
              </a:rPr>
              <a:t> total de </a:t>
            </a:r>
            <a:r>
              <a:rPr lang="en-US" sz="2100" b="1" dirty="0">
                <a:effectLst/>
              </a:rPr>
              <a:t>25%</a:t>
            </a:r>
            <a:r>
              <a:rPr lang="en-US" sz="2100" dirty="0">
                <a:effectLst/>
              </a:rPr>
              <a:t> (</a:t>
            </a:r>
            <a:r>
              <a:rPr lang="en-US" sz="2100" dirty="0" err="1">
                <a:effectLst/>
              </a:rPr>
              <a:t>média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estimada</a:t>
            </a:r>
            <a:r>
              <a:rPr lang="en-US" sz="2100" dirty="0">
                <a:effectLst/>
              </a:rPr>
              <a:t> no mercado)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br>
              <a:rPr lang="en-US" sz="2100" dirty="0">
                <a:effectLst/>
              </a:rPr>
            </a:br>
            <a:endParaRPr lang="en-US" sz="2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300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2B65BD-95D3-8C1A-9291-D5FB8D2ADCAC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effectLst/>
              </a:rPr>
              <a:t>📌 Como </a:t>
            </a:r>
            <a:r>
              <a:rPr lang="en-US" sz="1900" b="1" dirty="0" err="1">
                <a:effectLst/>
              </a:rPr>
              <a:t>funciona</a:t>
            </a:r>
            <a:r>
              <a:rPr lang="en-US" sz="1900" b="1" dirty="0">
                <a:effectLst/>
              </a:rPr>
              <a:t> </a:t>
            </a:r>
            <a:r>
              <a:rPr lang="en-US" sz="1900" b="1" dirty="0" err="1">
                <a:effectLst/>
              </a:rPr>
              <a:t>na</a:t>
            </a:r>
            <a:r>
              <a:rPr lang="en-US" sz="1900" b="1" dirty="0">
                <a:effectLst/>
              </a:rPr>
              <a:t> </a:t>
            </a:r>
            <a:r>
              <a:rPr lang="en-US" sz="1900" b="1" dirty="0" err="1">
                <a:effectLst/>
              </a:rPr>
              <a:t>prática</a:t>
            </a:r>
            <a:r>
              <a:rPr lang="en-US" sz="1900" b="1" dirty="0">
                <a:effectLst/>
              </a:rPr>
              <a:t>:</a:t>
            </a:r>
            <a:endParaRPr lang="en-US" sz="19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 err="1">
                <a:effectLst/>
              </a:rPr>
              <a:t>Receita</a:t>
            </a:r>
            <a:r>
              <a:rPr lang="en-US" sz="1900" b="1" dirty="0">
                <a:effectLst/>
              </a:rPr>
              <a:t>:</a:t>
            </a:r>
            <a:endParaRPr lang="en-US" sz="1900" dirty="0">
              <a:effectLst/>
            </a:endParaRP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>
                <a:effectLst/>
              </a:rPr>
              <a:t>Venda: R$ 1.000.000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 err="1">
                <a:effectLst/>
              </a:rPr>
              <a:t>Imposto</a:t>
            </a:r>
            <a:r>
              <a:rPr lang="en-US" sz="1900" dirty="0">
                <a:effectLst/>
              </a:rPr>
              <a:t> </a:t>
            </a:r>
            <a:r>
              <a:rPr lang="en-US" sz="1900" dirty="0" err="1">
                <a:effectLst/>
              </a:rPr>
              <a:t>bruto</a:t>
            </a:r>
            <a:r>
              <a:rPr lang="en-US" sz="1900" dirty="0">
                <a:effectLst/>
              </a:rPr>
              <a:t>: 25% → R$ 250.000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 err="1">
                <a:effectLst/>
              </a:rPr>
              <a:t>Créditos</a:t>
            </a:r>
            <a:r>
              <a:rPr lang="en-US" sz="1900" b="1" dirty="0">
                <a:effectLst/>
              </a:rPr>
              <a:t>:</a:t>
            </a:r>
            <a:endParaRPr lang="en-US" sz="1900" dirty="0">
              <a:effectLst/>
            </a:endParaRP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 err="1">
                <a:effectLst/>
              </a:rPr>
              <a:t>Compra</a:t>
            </a:r>
            <a:r>
              <a:rPr lang="en-US" sz="1900" dirty="0">
                <a:effectLst/>
              </a:rPr>
              <a:t> de </a:t>
            </a:r>
            <a:r>
              <a:rPr lang="en-US" sz="1900" dirty="0" err="1">
                <a:effectLst/>
              </a:rPr>
              <a:t>insumos</a:t>
            </a:r>
            <a:r>
              <a:rPr lang="en-US" sz="1900" dirty="0">
                <a:effectLst/>
              </a:rPr>
              <a:t>: R$ 400.000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>
                <a:effectLst/>
              </a:rPr>
              <a:t>Crédito: 25% → R$ 100.000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br>
              <a:rPr lang="en-US" sz="1900" dirty="0">
                <a:effectLst/>
              </a:rPr>
            </a:br>
            <a:endParaRPr lang="en-US" sz="19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effectLst/>
              </a:rPr>
              <a:t>💰 </a:t>
            </a:r>
            <a:r>
              <a:rPr lang="en-US" sz="1900" b="1" dirty="0" err="1">
                <a:effectLst/>
              </a:rPr>
              <a:t>Imposto</a:t>
            </a:r>
            <a:r>
              <a:rPr lang="en-US" sz="1900" b="1" dirty="0">
                <a:effectLst/>
              </a:rPr>
              <a:t> final a </a:t>
            </a:r>
            <a:r>
              <a:rPr lang="en-US" sz="1900" b="1" dirty="0" err="1">
                <a:effectLst/>
              </a:rPr>
              <a:t>pagar</a:t>
            </a:r>
            <a:r>
              <a:rPr lang="en-US" sz="1900" b="1" dirty="0">
                <a:effectLst/>
              </a:rPr>
              <a:t>:</a:t>
            </a:r>
            <a:endParaRPr lang="en-US" sz="19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👉 R$ 250.000 - R$ 100.000 = </a:t>
            </a:r>
            <a:r>
              <a:rPr lang="en-US" sz="1900" b="1" dirty="0">
                <a:effectLst/>
              </a:rPr>
              <a:t>R$ 150.000</a:t>
            </a:r>
            <a:endParaRPr lang="en-US" sz="19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4395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061069-B0D3-10F4-83F7-EEE4228A019A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CENÁRIO IMPOSTO TOTAL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ANTES       R$ 266.500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DEPOIS     R$ 150.000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</a:t>
            </a:r>
            <a:r>
              <a:rPr lang="en-US" sz="2100" b="1" dirty="0" err="1">
                <a:effectLst/>
              </a:rPr>
              <a:t>Redução</a:t>
            </a:r>
            <a:r>
              <a:rPr lang="en-US" sz="2100" b="1" dirty="0">
                <a:effectLst/>
              </a:rPr>
              <a:t> de R$ 116.500 (≈ -44%)</a:t>
            </a:r>
            <a:endParaRPr lang="en-US" sz="2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7240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61A839-2934-7F08-5E65-39DE2DF2C6E9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MAS CALMA… NÃO É SÓ BENEFÍCIO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Aqui </a:t>
            </a:r>
            <a:r>
              <a:rPr lang="en-US" sz="2100" dirty="0" err="1">
                <a:effectLst/>
              </a:rPr>
              <a:t>entra</a:t>
            </a:r>
            <a:r>
              <a:rPr lang="en-US" sz="2100" dirty="0">
                <a:effectLst/>
              </a:rPr>
              <a:t> o </a:t>
            </a:r>
            <a:r>
              <a:rPr lang="en-US" sz="2100" dirty="0" err="1">
                <a:effectLst/>
              </a:rPr>
              <a:t>olhar</a:t>
            </a:r>
            <a:r>
              <a:rPr lang="en-US" sz="2100" dirty="0">
                <a:effectLst/>
              </a:rPr>
              <a:t> de consultor de </a:t>
            </a:r>
            <a:r>
              <a:rPr lang="en-US" sz="2100" dirty="0" err="1">
                <a:effectLst/>
              </a:rPr>
              <a:t>verdade</a:t>
            </a:r>
            <a:r>
              <a:rPr lang="en-US" sz="2100" dirty="0">
                <a:effectLst/>
              </a:rPr>
              <a:t>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🔥 </a:t>
            </a:r>
            <a:r>
              <a:rPr lang="en-US" sz="2100" b="1" dirty="0" err="1">
                <a:effectLst/>
              </a:rPr>
              <a:t>Impactos</a:t>
            </a:r>
            <a:r>
              <a:rPr lang="en-US" sz="2100" b="1" dirty="0">
                <a:effectLst/>
              </a:rPr>
              <a:t> </a:t>
            </a:r>
            <a:r>
              <a:rPr lang="en-US" sz="2100" b="1" dirty="0" err="1">
                <a:effectLst/>
              </a:rPr>
              <a:t>estratégicos</a:t>
            </a:r>
            <a:r>
              <a:rPr lang="en-US" sz="2100" b="1" dirty="0">
                <a:effectLst/>
              </a:rPr>
              <a:t>: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1. Fim da </a:t>
            </a:r>
            <a:r>
              <a:rPr lang="en-US" sz="2100" b="1" dirty="0" err="1">
                <a:effectLst/>
              </a:rPr>
              <a:t>cumulatividade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</a:t>
            </a:r>
            <a:r>
              <a:rPr lang="en-US" sz="2100" dirty="0" err="1">
                <a:effectLst/>
              </a:rPr>
              <a:t>Excelente</a:t>
            </a:r>
            <a:r>
              <a:rPr lang="en-US" sz="2100" dirty="0">
                <a:effectLst/>
              </a:rPr>
              <a:t> para </a:t>
            </a:r>
            <a:r>
              <a:rPr lang="en-US" sz="2100" dirty="0" err="1">
                <a:effectLst/>
              </a:rPr>
              <a:t>indústria</a:t>
            </a: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👉 Principal </a:t>
            </a:r>
            <a:r>
              <a:rPr lang="en-US" sz="2100" dirty="0" err="1">
                <a:effectLst/>
              </a:rPr>
              <a:t>ganho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vem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aqui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br>
              <a:rPr lang="en-US" sz="2100" dirty="0">
                <a:effectLst/>
              </a:rPr>
            </a:br>
            <a:endParaRPr lang="en-US" sz="2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1451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C2A4D5-8516-8CA4-FFC6-C590C9B70D1A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. Crédito </a:t>
            </a:r>
            <a:r>
              <a:rPr lang="en-US" sz="2100" b="1" dirty="0" err="1">
                <a:effectLst/>
              </a:rPr>
              <a:t>amplo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</a:t>
            </a:r>
            <a:r>
              <a:rPr lang="en-US" sz="2100" dirty="0" err="1">
                <a:effectLst/>
              </a:rPr>
              <a:t>Tudo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vira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crédito</a:t>
            </a:r>
            <a:r>
              <a:rPr lang="en-US" sz="2100" dirty="0">
                <a:effectLst/>
              </a:rPr>
              <a:t>: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dirty="0" err="1">
                <a:effectLst/>
              </a:rPr>
              <a:t>energia</a:t>
            </a:r>
            <a:r>
              <a:rPr lang="en-US" sz="21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dirty="0" err="1">
                <a:effectLst/>
              </a:rPr>
              <a:t>insumo</a:t>
            </a:r>
            <a:r>
              <a:rPr lang="en-US" sz="21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dirty="0" err="1">
                <a:effectLst/>
              </a:rPr>
              <a:t>aluguel</a:t>
            </a:r>
            <a:r>
              <a:rPr lang="en-US" sz="2100" dirty="0">
                <a:effectLst/>
              </a:rPr>
              <a:t> (</a:t>
            </a:r>
            <a:r>
              <a:rPr lang="en-US" sz="2100" dirty="0" err="1">
                <a:effectLst/>
              </a:rPr>
              <a:t>em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alguns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casos</a:t>
            </a:r>
            <a:r>
              <a:rPr lang="en-US" sz="2100" dirty="0">
                <a:effectLst/>
              </a:rPr>
              <a:t>)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💡 </a:t>
            </a:r>
            <a:r>
              <a:rPr lang="en-US" sz="2100" dirty="0" err="1">
                <a:effectLst/>
              </a:rPr>
              <a:t>Resultado</a:t>
            </a:r>
            <a:r>
              <a:rPr lang="en-US" sz="2100" dirty="0">
                <a:effectLst/>
              </a:rPr>
              <a:t>: </a:t>
            </a:r>
            <a:r>
              <a:rPr lang="en-US" sz="2100" dirty="0" err="1">
                <a:effectLst/>
              </a:rPr>
              <a:t>margem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melhora</a:t>
            </a:r>
            <a:endParaRPr lang="en-US" sz="2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0877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F6898D-3A8C-BDF3-6281-C4CE1C44C825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. </a:t>
            </a:r>
            <a:r>
              <a:rPr lang="en-US" sz="2100" b="1" dirty="0" err="1">
                <a:effectLst/>
              </a:rPr>
              <a:t>Aumento</a:t>
            </a:r>
            <a:r>
              <a:rPr lang="en-US" sz="2100" b="1" dirty="0">
                <a:effectLst/>
              </a:rPr>
              <a:t> de </a:t>
            </a:r>
            <a:r>
              <a:rPr lang="en-US" sz="2100" b="1" dirty="0" err="1">
                <a:effectLst/>
              </a:rPr>
              <a:t>alíquota</a:t>
            </a:r>
            <a:r>
              <a:rPr lang="en-US" sz="2100" b="1" dirty="0">
                <a:effectLst/>
              </a:rPr>
              <a:t> nominal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Parece </a:t>
            </a:r>
            <a:r>
              <a:rPr lang="en-US" sz="2100" dirty="0" err="1">
                <a:effectLst/>
              </a:rPr>
              <a:t>maior</a:t>
            </a:r>
            <a:r>
              <a:rPr lang="en-US" sz="2100" dirty="0">
                <a:effectLst/>
              </a:rPr>
              <a:t> (25%), mas:</a:t>
            </a: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✔️ Base limpa</a:t>
            </a: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✔️ Menos </a:t>
            </a:r>
            <a:r>
              <a:rPr lang="en-US" sz="2100" dirty="0" err="1">
                <a:effectLst/>
              </a:rPr>
              <a:t>distorção</a:t>
            </a:r>
            <a:endParaRPr lang="en-US" sz="2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9621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D12AA8-E5C9-FCCA-DB47-A0EE30F47319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 err="1">
                <a:effectLst/>
              </a:rPr>
              <a:t>Pressão</a:t>
            </a:r>
            <a:r>
              <a:rPr lang="en-US" sz="2100" b="1" dirty="0">
                <a:effectLst/>
              </a:rPr>
              <a:t> no </a:t>
            </a:r>
            <a:r>
              <a:rPr lang="en-US" sz="2100" b="1" dirty="0" err="1">
                <a:effectLst/>
              </a:rPr>
              <a:t>preço</a:t>
            </a:r>
            <a:r>
              <a:rPr lang="en-US" sz="2100" b="1" dirty="0">
                <a:effectLst/>
              </a:rPr>
              <a:t> de </a:t>
            </a:r>
            <a:r>
              <a:rPr lang="en-US" sz="2100" b="1" dirty="0" err="1">
                <a:effectLst/>
              </a:rPr>
              <a:t>venda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</a:t>
            </a:r>
            <a:r>
              <a:rPr lang="en-US" sz="2100" dirty="0" err="1">
                <a:effectLst/>
              </a:rPr>
              <a:t>Clientes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vão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exigir</a:t>
            </a:r>
            <a:r>
              <a:rPr lang="en-US" sz="2100" dirty="0">
                <a:effectLst/>
              </a:rPr>
              <a:t>: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dirty="0" err="1">
                <a:effectLst/>
              </a:rPr>
              <a:t>repasse</a:t>
            </a:r>
            <a:r>
              <a:rPr lang="en-US" sz="2100" dirty="0">
                <a:effectLst/>
              </a:rPr>
              <a:t> de </a:t>
            </a:r>
            <a:r>
              <a:rPr lang="en-US" sz="2100" dirty="0" err="1">
                <a:effectLst/>
              </a:rPr>
              <a:t>redução</a:t>
            </a:r>
            <a:r>
              <a:rPr lang="en-US" sz="21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100" dirty="0" err="1">
                <a:effectLst/>
              </a:rPr>
              <a:t>preços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mais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competitivos</a:t>
            </a:r>
            <a:r>
              <a:rPr lang="en-US" sz="2100" dirty="0">
                <a:effectLst/>
              </a:rPr>
              <a:t>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💡 </a:t>
            </a:r>
            <a:r>
              <a:rPr lang="en-US" sz="2100" dirty="0" err="1">
                <a:effectLst/>
              </a:rPr>
              <a:t>Tradução</a:t>
            </a:r>
            <a:r>
              <a:rPr lang="en-US" sz="2100" dirty="0">
                <a:effectLst/>
              </a:rPr>
              <a:t>:</a:t>
            </a: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quem </a:t>
            </a:r>
            <a:r>
              <a:rPr lang="en-US" sz="2100" dirty="0" err="1">
                <a:effectLst/>
              </a:rPr>
              <a:t>não</a:t>
            </a:r>
            <a:r>
              <a:rPr lang="en-US" sz="2100" dirty="0">
                <a:effectLst/>
              </a:rPr>
              <a:t> for </a:t>
            </a:r>
            <a:r>
              <a:rPr lang="en-US" sz="2100" dirty="0" err="1">
                <a:effectLst/>
              </a:rPr>
              <a:t>eficiente</a:t>
            </a:r>
            <a:r>
              <a:rPr lang="en-US" sz="2100" dirty="0">
                <a:effectLst/>
              </a:rPr>
              <a:t> → </a:t>
            </a:r>
            <a:r>
              <a:rPr lang="en-US" sz="2100" dirty="0" err="1">
                <a:effectLst/>
              </a:rPr>
              <a:t>perde</a:t>
            </a:r>
            <a:r>
              <a:rPr lang="en-US" sz="2100" dirty="0">
                <a:effectLst/>
              </a:rPr>
              <a:t> mercado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30853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C955-4670-592B-4565-B6F94787B773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. </a:t>
            </a:r>
            <a:r>
              <a:rPr lang="en-US" sz="2100" b="1" dirty="0" err="1">
                <a:effectLst/>
              </a:rPr>
              <a:t>Fluxo</a:t>
            </a:r>
            <a:r>
              <a:rPr lang="en-US" sz="2100" b="1" dirty="0">
                <a:effectLst/>
              </a:rPr>
              <a:t> de </a:t>
            </a:r>
            <a:r>
              <a:rPr lang="en-US" sz="2100" b="1" dirty="0" err="1">
                <a:effectLst/>
              </a:rPr>
              <a:t>caixa</a:t>
            </a:r>
            <a:r>
              <a:rPr lang="en-US" sz="2100" b="1" dirty="0">
                <a:effectLst/>
              </a:rPr>
              <a:t> </a:t>
            </a:r>
            <a:r>
              <a:rPr lang="en-US" sz="2100" b="1" dirty="0" err="1">
                <a:effectLst/>
              </a:rPr>
              <a:t>muda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</a:t>
            </a:r>
            <a:r>
              <a:rPr lang="en-US" sz="2100" dirty="0" err="1">
                <a:effectLst/>
              </a:rPr>
              <a:t>Imposto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mais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alinhado</a:t>
            </a:r>
            <a:r>
              <a:rPr lang="en-US" sz="2100" dirty="0">
                <a:effectLst/>
              </a:rPr>
              <a:t> com valor </a:t>
            </a:r>
            <a:r>
              <a:rPr lang="en-US" sz="2100" dirty="0" err="1">
                <a:effectLst/>
              </a:rPr>
              <a:t>agregado</a:t>
            </a: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👉 Menos </a:t>
            </a:r>
            <a:r>
              <a:rPr lang="en-US" sz="2100" dirty="0" err="1">
                <a:effectLst/>
              </a:rPr>
              <a:t>distorção</a:t>
            </a:r>
            <a:r>
              <a:rPr lang="en-US" sz="2100" dirty="0">
                <a:effectLst/>
              </a:rPr>
              <a:t> → </a:t>
            </a:r>
            <a:r>
              <a:rPr lang="en-US" sz="2100" dirty="0" err="1">
                <a:effectLst/>
              </a:rPr>
              <a:t>mais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previsibilidade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272917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9FE8DD-F9D0-9839-F458-C304A864986C}"/>
              </a:ext>
            </a:extLst>
          </p:cNvPr>
          <p:cNvSpPr txBox="1"/>
          <p:nvPr/>
        </p:nvSpPr>
        <p:spPr>
          <a:xfrm>
            <a:off x="163286" y="2056477"/>
            <a:ext cx="8675913" cy="46034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VISÃO ESTRATÉGICA (o </a:t>
            </a:r>
            <a:r>
              <a:rPr lang="en-US" sz="2400" b="1" dirty="0" err="1">
                <a:effectLst/>
              </a:rPr>
              <a:t>que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ninguém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te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fala</a:t>
            </a:r>
            <a:r>
              <a:rPr lang="en-US" sz="2400" b="1" dirty="0">
                <a:effectLst/>
              </a:rPr>
              <a:t>)</a:t>
            </a:r>
            <a:endParaRPr lang="en-US" sz="24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A </a:t>
            </a:r>
            <a:r>
              <a:rPr lang="en-US" sz="2400" dirty="0" err="1">
                <a:effectLst/>
              </a:rPr>
              <a:t>reforma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não</a:t>
            </a:r>
            <a:r>
              <a:rPr lang="en-US" sz="2400" dirty="0">
                <a:effectLst/>
              </a:rPr>
              <a:t> é </a:t>
            </a:r>
            <a:r>
              <a:rPr lang="en-US" sz="2400" dirty="0" err="1">
                <a:effectLst/>
              </a:rPr>
              <a:t>só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tributária</a:t>
            </a:r>
            <a:r>
              <a:rPr lang="en-US" sz="2400" dirty="0">
                <a:effectLst/>
              </a:rPr>
              <a:t>.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👉 É </a:t>
            </a:r>
            <a:r>
              <a:rPr lang="en-US" sz="2400" dirty="0" err="1">
                <a:effectLst/>
              </a:rPr>
              <a:t>uma</a:t>
            </a:r>
            <a:r>
              <a:rPr lang="en-US" sz="2400" dirty="0">
                <a:effectLst/>
              </a:rPr>
              <a:t> </a:t>
            </a:r>
            <a:r>
              <a:rPr lang="en-US" sz="2400" b="1" dirty="0" err="1">
                <a:effectLst/>
              </a:rPr>
              <a:t>reforma</a:t>
            </a:r>
            <a:r>
              <a:rPr lang="en-US" sz="2400" b="1" dirty="0">
                <a:effectLst/>
              </a:rPr>
              <a:t> de </a:t>
            </a:r>
            <a:r>
              <a:rPr lang="en-US" sz="2400" b="1" dirty="0" err="1">
                <a:effectLst/>
              </a:rPr>
              <a:t>competitividade</a:t>
            </a:r>
            <a:r>
              <a:rPr lang="en-US" sz="2400" dirty="0">
                <a:effectLst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Empresas </a:t>
            </a:r>
            <a:r>
              <a:rPr lang="en-US" sz="2400" b="1" dirty="0" err="1">
                <a:effectLst/>
              </a:rPr>
              <a:t>que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vão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ganhar</a:t>
            </a:r>
            <a:r>
              <a:rPr lang="en-US" sz="2400" b="1" dirty="0">
                <a:effectLst/>
              </a:rPr>
              <a:t>:</a:t>
            </a:r>
            <a:endParaRPr lang="en-US" sz="2400" dirty="0">
              <a:effectLst/>
            </a:endParaRP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 err="1">
                <a:effectLst/>
              </a:rPr>
              <a:t>Indústrias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estruturadas</a:t>
            </a:r>
            <a:r>
              <a:rPr lang="en-US" sz="24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</a:rPr>
              <a:t>Quem </a:t>
            </a:r>
            <a:r>
              <a:rPr lang="en-US" sz="2400" dirty="0" err="1">
                <a:effectLst/>
              </a:rPr>
              <a:t>controla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custo</a:t>
            </a:r>
            <a:r>
              <a:rPr lang="en-US" sz="24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</a:rPr>
              <a:t>Quem </a:t>
            </a:r>
            <a:r>
              <a:rPr lang="en-US" sz="2400" dirty="0" err="1">
                <a:effectLst/>
              </a:rPr>
              <a:t>entende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margem</a:t>
            </a:r>
            <a:r>
              <a:rPr lang="en-US" sz="2400" dirty="0">
                <a:effectLst/>
              </a:rPr>
              <a:t> de </a:t>
            </a:r>
            <a:r>
              <a:rPr lang="en-US" sz="2400" dirty="0" err="1">
                <a:effectLst/>
              </a:rPr>
              <a:t>contribuição</a:t>
            </a:r>
            <a:r>
              <a:rPr lang="en-US" sz="2400" dirty="0">
                <a:effectLst/>
              </a:rPr>
              <a:t>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Empresas </a:t>
            </a:r>
            <a:r>
              <a:rPr lang="en-US" sz="2400" b="1" dirty="0" err="1">
                <a:effectLst/>
              </a:rPr>
              <a:t>que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vão</a:t>
            </a:r>
            <a:r>
              <a:rPr lang="en-US" sz="2400" b="1" dirty="0">
                <a:effectLst/>
              </a:rPr>
              <a:t> </a:t>
            </a:r>
            <a:r>
              <a:rPr lang="en-US" sz="2400" b="1" dirty="0" err="1">
                <a:effectLst/>
              </a:rPr>
              <a:t>sofrer</a:t>
            </a:r>
            <a:r>
              <a:rPr lang="en-US" sz="2400" b="1" dirty="0">
                <a:effectLst/>
              </a:rPr>
              <a:t>:</a:t>
            </a:r>
            <a:endParaRPr lang="en-US" sz="2400" dirty="0">
              <a:effectLst/>
            </a:endParaRP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</a:rPr>
              <a:t>Quem </a:t>
            </a:r>
            <a:r>
              <a:rPr lang="en-US" sz="2400" dirty="0" err="1">
                <a:effectLst/>
              </a:rPr>
              <a:t>vive</a:t>
            </a:r>
            <a:r>
              <a:rPr lang="en-US" sz="2400" dirty="0">
                <a:effectLst/>
              </a:rPr>
              <a:t> de “</a:t>
            </a:r>
            <a:r>
              <a:rPr lang="en-US" sz="2400" dirty="0" err="1">
                <a:effectLst/>
              </a:rPr>
              <a:t>benefício</a:t>
            </a:r>
            <a:r>
              <a:rPr lang="en-US" sz="2400" dirty="0">
                <a:effectLst/>
              </a:rPr>
              <a:t> fiscal </a:t>
            </a:r>
            <a:r>
              <a:rPr lang="en-US" sz="2400" dirty="0" err="1">
                <a:effectLst/>
              </a:rPr>
              <a:t>escondido</a:t>
            </a:r>
            <a:r>
              <a:rPr lang="en-US" sz="2400" dirty="0">
                <a:effectLst/>
              </a:rPr>
              <a:t>”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</a:rPr>
              <a:t>Quem </a:t>
            </a:r>
            <a:r>
              <a:rPr lang="en-US" sz="2400" dirty="0" err="1">
                <a:effectLst/>
              </a:rPr>
              <a:t>não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tem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gestão</a:t>
            </a:r>
            <a:r>
              <a:rPr lang="en-US" sz="2400" dirty="0">
                <a:effectLst/>
              </a:rPr>
              <a:t> </a:t>
            </a:r>
          </a:p>
          <a:p>
            <a:pPr marL="342900" lvl="0" indent="-228600" defTabSz="9144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</a:rPr>
              <a:t>Quem </a:t>
            </a:r>
            <a:r>
              <a:rPr lang="en-US" sz="2400" dirty="0" err="1">
                <a:effectLst/>
              </a:rPr>
              <a:t>não</a:t>
            </a:r>
            <a:r>
              <a:rPr lang="en-US" sz="2400" dirty="0">
                <a:effectLst/>
              </a:rPr>
              <a:t> sabe </a:t>
            </a:r>
            <a:r>
              <a:rPr lang="en-US" sz="2400" dirty="0" err="1">
                <a:effectLst/>
              </a:rPr>
              <a:t>seu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custo</a:t>
            </a:r>
            <a:r>
              <a:rPr lang="en-US" sz="2400" dirty="0">
                <a:effectLst/>
              </a:rPr>
              <a:t> real </a:t>
            </a:r>
            <a:br>
              <a:rPr lang="en-US" sz="2400" dirty="0">
                <a:effectLst/>
              </a:rPr>
            </a:b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2457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355F72-EDAA-B592-751E-AE83F47E1471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effectLst/>
              </a:rPr>
              <a:t>🚀 CONCLUSÃO EXECUTIVA</a:t>
            </a:r>
            <a:endParaRPr lang="en-US" sz="2100" dirty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👉 A </a:t>
            </a:r>
            <a:r>
              <a:rPr lang="en-US" sz="2100" dirty="0" err="1">
                <a:effectLst/>
              </a:rPr>
              <a:t>indústria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tende</a:t>
            </a:r>
            <a:r>
              <a:rPr lang="en-US" sz="2100" dirty="0">
                <a:effectLst/>
              </a:rPr>
              <a:t> a </a:t>
            </a:r>
            <a:r>
              <a:rPr lang="en-US" sz="2100" b="1" dirty="0" err="1">
                <a:effectLst/>
              </a:rPr>
              <a:t>ganhar</a:t>
            </a:r>
            <a:r>
              <a:rPr lang="en-US" sz="2100" b="1" dirty="0">
                <a:effectLst/>
              </a:rPr>
              <a:t> </a:t>
            </a:r>
            <a:r>
              <a:rPr lang="en-US" sz="2100" b="1" dirty="0" err="1">
                <a:effectLst/>
              </a:rPr>
              <a:t>eficiência</a:t>
            </a:r>
            <a:r>
              <a:rPr lang="en-US" sz="2100" b="1" dirty="0">
                <a:effectLst/>
              </a:rPr>
              <a:t> e </a:t>
            </a:r>
            <a:r>
              <a:rPr lang="en-US" sz="2100" b="1" dirty="0" err="1">
                <a:effectLst/>
              </a:rPr>
              <a:t>pagar</a:t>
            </a:r>
            <a:r>
              <a:rPr lang="en-US" sz="2100" b="1" dirty="0">
                <a:effectLst/>
              </a:rPr>
              <a:t> </a:t>
            </a:r>
            <a:r>
              <a:rPr lang="en-US" sz="2100" b="1" dirty="0" err="1">
                <a:effectLst/>
              </a:rPr>
              <a:t>menos</a:t>
            </a:r>
            <a:r>
              <a:rPr lang="en-US" sz="2100" b="1" dirty="0">
                <a:effectLst/>
              </a:rPr>
              <a:t> </a:t>
            </a:r>
            <a:r>
              <a:rPr lang="en-US" sz="2100" b="1" dirty="0" err="1">
                <a:effectLst/>
              </a:rPr>
              <a:t>imposto</a:t>
            </a:r>
            <a:r>
              <a:rPr lang="en-US" sz="2100" dirty="0">
                <a:effectLst/>
              </a:rPr>
              <a:t>,</a:t>
            </a:r>
            <a:br>
              <a:rPr lang="en-US" sz="2100" dirty="0">
                <a:effectLst/>
              </a:rPr>
            </a:br>
            <a:r>
              <a:rPr lang="en-US" sz="2100" b="1" dirty="0">
                <a:effectLst/>
              </a:rPr>
              <a:t>SE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tiver</a:t>
            </a:r>
            <a:r>
              <a:rPr lang="en-US" sz="2100" dirty="0">
                <a:effectLst/>
              </a:rPr>
              <a:t> boa </a:t>
            </a:r>
            <a:r>
              <a:rPr lang="en-US" sz="2100" dirty="0" err="1">
                <a:effectLst/>
              </a:rPr>
              <a:t>gestão</a:t>
            </a:r>
            <a:r>
              <a:rPr lang="en-US" sz="2100" dirty="0">
                <a:effectLst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Caso </a:t>
            </a:r>
            <a:r>
              <a:rPr lang="en-US" sz="2100" dirty="0" err="1">
                <a:effectLst/>
              </a:rPr>
              <a:t>contrário</a:t>
            </a:r>
            <a:r>
              <a:rPr lang="en-US" sz="2100" dirty="0">
                <a:effectLst/>
              </a:rPr>
              <a:t>…</a:t>
            </a: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👉 a </a:t>
            </a:r>
            <a:r>
              <a:rPr lang="en-US" sz="2100" dirty="0" err="1">
                <a:effectLst/>
              </a:rPr>
              <a:t>reforma</a:t>
            </a:r>
            <a:r>
              <a:rPr lang="en-US" sz="2100" dirty="0">
                <a:effectLst/>
              </a:rPr>
              <a:t> </a:t>
            </a:r>
            <a:r>
              <a:rPr lang="en-US" sz="2100" dirty="0" err="1">
                <a:effectLst/>
              </a:rPr>
              <a:t>vira</a:t>
            </a:r>
            <a:r>
              <a:rPr lang="en-US" sz="2100" dirty="0">
                <a:effectLst/>
              </a:rPr>
              <a:t> um “detector de </a:t>
            </a:r>
            <a:r>
              <a:rPr lang="en-US" sz="2100" dirty="0" err="1">
                <a:effectLst/>
              </a:rPr>
              <a:t>empresa</a:t>
            </a:r>
            <a:r>
              <a:rPr lang="en-US" sz="2100" dirty="0">
                <a:effectLst/>
              </a:rPr>
              <a:t> mal </a:t>
            </a:r>
            <a:r>
              <a:rPr lang="en-US" sz="2100" dirty="0" err="1">
                <a:effectLst/>
              </a:rPr>
              <a:t>gerida</a:t>
            </a:r>
            <a:r>
              <a:rPr lang="en-US" sz="2100" dirty="0">
                <a:effectLst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85779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596</Words>
  <Application>Microsoft Office PowerPoint</Application>
  <PresentationFormat>Apresentação na tela (4:3)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Reforma Tributária - Brasil</vt:lpstr>
      <vt:lpstr>Contexto Atual</vt:lpstr>
      <vt:lpstr>Novo Modelo</vt:lpstr>
      <vt:lpstr>Conceito Central</vt:lpstr>
      <vt:lpstr>Tributação no Destino</vt:lpstr>
      <vt:lpstr>Impacto por Setor</vt:lpstr>
      <vt:lpstr>Ações Necessárias</vt:lpstr>
      <vt:lpstr>Cronograma</vt:lpstr>
      <vt:lpstr>Riscos</vt:lpstr>
      <vt:lpstr>Oportunidades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Ernane Coelho</dc:creator>
  <cp:keywords/>
  <dc:description>generated using python-pptx</dc:description>
  <cp:lastModifiedBy>ernane coelho</cp:lastModifiedBy>
  <cp:revision>2</cp:revision>
  <dcterms:created xsi:type="dcterms:W3CDTF">2013-01-27T09:14:16Z</dcterms:created>
  <dcterms:modified xsi:type="dcterms:W3CDTF">2026-03-26T17:30:49Z</dcterms:modified>
  <cp:category/>
</cp:coreProperties>
</file>