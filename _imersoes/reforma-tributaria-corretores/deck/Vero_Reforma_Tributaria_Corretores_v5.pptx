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79" r:id="rId29"/>
    <p:sldId id="28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890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1143000" cy="1143000"/>
          </a:xfrm>
          <a:prstGeom prst="rect">
            <a:avLst/>
          </a:prstGeom>
          <a:solidFill>
            <a:srgbClr val="052B5A"/>
          </a:solidFill>
          <a:ln/>
        </p:spPr>
      </p:sp>
      <p:pic>
        <p:nvPicPr>
          <p:cNvPr id="3" name="Image 0" descr="/Users/Lucas-Lenovo/Vero - Escola de Empresários/_contexto/logos/vero-v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800100"/>
            <a:ext cx="685800" cy="5913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94560" y="5669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22402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DE EMPRESÁRIOS  ·  HUB DE NEGÓCIOS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22960" y="2514600"/>
            <a:ext cx="109728" cy="21031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Reforma Tributária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097280" y="3337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</a:t>
            </a:r>
            <a:r>
              <a:rPr lang="en-US" sz="44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Corretores de Imóveis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109728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preparar antes de a regra mudar — não depois.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972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escola para empresários de verdade.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VERO · LUCAS · ERNANE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conduz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200400" cy="32918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· HUB · TREINAMENTOS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3749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o improviso e forma quem opera com critério. Uma escola para empresários de verdade.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Lucas Borges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EMPRESÁRIO E MENTOR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3749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[trajetória: anos de mercado e área]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[especialidade / foco]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[uma frase de credibilidade]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20040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286000"/>
            <a:ext cx="109728" cy="32918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6517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Ernane</a:t>
            </a:r>
            <a:r>
              <a:rPr lang="en-US" sz="22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Coelho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PAPEL NA VERO 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58200" y="374904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[trajetória: anos de mercado e área]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[especialidade / foco]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[uma frase de credibilidade]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campos com [ ] serão preenchidos com a trajetória de Lucas e Ernane.</a:t>
            </a:r>
            <a:endParaRPr lang="en-US" sz="1000" dirty="0"/>
          </a:p>
        </p:txBody>
      </p:sp>
      <p:pic>
        <p:nvPicPr>
          <p:cNvPr id="20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DINHEIRO DO CORRETOR MUDOU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9728" cy="15087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73736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aqui já fechou uma venda excelente, recebeu uma comissão excelente — e três meses depois não sabia pra onde o dinheiro foi?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97280" y="3657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é o </a:t>
            </a:r>
            <a:r>
              <a:rPr lang="en-US" sz="1600" b="1" i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</a:t>
            </a:r>
            <a:r>
              <a:rPr lang="en-US" sz="16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Corretor, como você. Mês passado fechou R$ 20 mil de comissão. </a:t>
            </a:r>
          </a:p>
          <a:p>
            <a:pPr marL="0" indent="0">
              <a:buNone/>
            </a:pPr>
            <a:endParaRPr lang="en-US" sz="1600" i="1" dirty="0">
              <a:solidFill>
                <a:srgbClr val="3D465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seguir o que a Reforma faz com o dinheiro dele — e com o seu.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Reforma não muda só imposto.  </a:t>
            </a:r>
            <a:r>
              <a:rPr lang="en-US" sz="2000" b="1" i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Muda quanto sobra do que você ganha.</a:t>
            </a:r>
            <a:endParaRPr lang="en-US" sz="2000" dirty="0"/>
          </a:p>
        </p:txBody>
      </p:sp>
      <p:pic>
        <p:nvPicPr>
          <p:cNvPr id="7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DO TEMPO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que fase está a Reforma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2697480"/>
            <a:ext cx="10149840" cy="0"/>
          </a:xfrm>
          <a:prstGeom prst="line">
            <a:avLst/>
          </a:prstGeom>
          <a:noFill/>
          <a:ln w="19050">
            <a:solidFill>
              <a:srgbClr val="E3DE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da transição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novo imposto começa a ser cobrado em teste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2032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de transição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Convivência dos dois sistemas e extinção gradual dos antigos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2578608"/>
            <a:ext cx="237744" cy="237744"/>
          </a:xfrm>
          <a:prstGeom prst="ellipse">
            <a:avLst/>
          </a:prstGeom>
          <a:solidFill>
            <a:srgbClr val="DEBB5F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3017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após 2033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3816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completo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1148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novo imposto único em pleno funcionamento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pra amanhã — mas começa agora. Quem se prepara cedo decide com calma; quem espera, decide no susto.</a:t>
            </a:r>
            <a:endParaRPr lang="en-US" sz="1350" dirty="0"/>
          </a:p>
        </p:txBody>
      </p:sp>
      <p:pic>
        <p:nvPicPr>
          <p:cNvPr id="18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 NO LUGAR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Vários impostos viram um só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4572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301752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COFINS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 — o que você paga hoje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77840" y="3383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766560" y="2377440"/>
            <a:ext cx="4572000" cy="2743200"/>
          </a:xfrm>
          <a:prstGeom prst="rect">
            <a:avLst/>
          </a:prstGeom>
          <a:solidFill>
            <a:srgbClr val="052B5A"/>
          </a:solidFill>
          <a:ln/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EB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NOVO IMPOSTO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3108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E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só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132320" y="41148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Chamado IBS + CBS. Você não precisa decorar a sigla — precisa saber que vira um imposto só, com uma lógica nova.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alíquota de referência estimada é ~26,5%. Começa em 2026 e completa em 2033.</a:t>
            </a:r>
            <a:endParaRPr lang="en-US" sz="1300" dirty="0"/>
          </a:p>
        </p:txBody>
      </p:sp>
      <p:pic>
        <p:nvPicPr>
          <p:cNvPr id="13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MUDANÇAS QUE IMPORTAM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Muda a lógica, não só a alíquota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20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194560" y="254203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Acaba o imposto sobre imposto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0" y="254203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compra de quem também paga imposto vira desconto. Esse desconto é o 'crédito'.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685032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685032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8496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194560" y="384962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imposto vai pra onde está o cliente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3849624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importa mais onde você é registrado — e sim onde o cliente está.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992624"/>
            <a:ext cx="10515600" cy="11430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992624"/>
            <a:ext cx="109728" cy="11430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15721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194560" y="515721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 quase não tem o que descontar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0" y="5157216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vende o seu trabalho, não mercadoria. Por isso o serviço sente mais.</a:t>
            </a:r>
            <a:endParaRPr lang="en-US" sz="1300" dirty="0"/>
          </a:p>
        </p:txBody>
      </p:sp>
      <p:pic>
        <p:nvPicPr>
          <p:cNvPr id="19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VOCÊ, ONDE ESTÁ?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atinge todo mundo igual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108960" cy="13716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SENTE MENOS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Indústria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 insumo pra descontar.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310896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SENTE MAIS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Quase nada pra descontar. A alíquota sobe.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2194560"/>
            <a:ext cx="6858000" cy="2926080"/>
          </a:xfrm>
          <a:prstGeom prst="rect">
            <a:avLst/>
          </a:prstGeom>
          <a:solidFill>
            <a:srgbClr val="052B5A"/>
          </a:solidFill>
          <a:ln/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2194560"/>
            <a:ext cx="6858000" cy="3657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697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EB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VOCÊ?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1546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2E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Corretor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4937760" y="43891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Corretagem é serviço. Você está no lado que mais sente — e é por isso que esta sessão é sobre você.</a:t>
            </a:r>
            <a:endParaRPr lang="en-US" sz="1400" dirty="0"/>
          </a:p>
        </p:txBody>
      </p:sp>
      <p:pic>
        <p:nvPicPr>
          <p:cNvPr id="17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QUASE NADA VIRA CRÉDITO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corretor vende conhecimento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Carlos recebe comissão. E quase nada do que ele compra gera desconto de imposto.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4846320" cy="310896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40280"/>
            <a:ext cx="484632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877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30175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Comissão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43000" y="384048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vende captação, negociação e fechamento. Serviço puro — sem mercadoria no meio.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240280"/>
            <a:ext cx="4846320" cy="31089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240280"/>
            <a:ext cx="109728" cy="31089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5877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ELE COMPRA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3017520"/>
            <a:ext cx="4160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 e internet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e portais de anúncio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e anúncios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 e combustível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8006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Quase nada disso vira crédito.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vende produto desconta o que compra. O Carlos vende conhecimento — e quase não tem o que descontar. Por isso o serviço paga sobre quase tudo que entra (alíquota de referência ~26,5%).</a:t>
            </a:r>
            <a:endParaRPr lang="en-US" sz="1300" dirty="0"/>
          </a:p>
        </p:txBody>
      </p:sp>
      <p:pic>
        <p:nvPicPr>
          <p:cNvPr id="17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NO BOLSO DELE — E NO SEU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conta do Carlos: hoje x depois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é PJ no Lucro Presumido. Fechou R$ 20.000 de comissão neste mês — só os impostos que a reforma troca.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3383280" cy="265176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R$ 1.730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3611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 5% → R$ 1.000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PIS/COFINS 3,65% → R$ 730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3383280" cy="265176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R$ 5.300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37760" y="3611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IBS/CBS 26,5% → R$ 5.300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a descontar: ≈ R$ 0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2240280"/>
            <a:ext cx="2834640" cy="2651760"/>
          </a:xfrm>
          <a:prstGeom prst="rect">
            <a:avLst/>
          </a:prstGeom>
          <a:solidFill>
            <a:srgbClr val="C0392B"/>
          </a:solidFill>
          <a:ln/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3920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3x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8503920" y="37033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imposto sobre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comissão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4480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2E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8,65% para 26,5%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contador mostrou essa conta, o Carlos teve duas opções: esperar a regra pegar — ou agir agora. Guarde isso.</a:t>
            </a:r>
            <a:endParaRPr lang="en-US" sz="1300" dirty="0"/>
          </a:p>
        </p:txBody>
      </p:sp>
      <p:pic>
        <p:nvPicPr>
          <p:cNvPr id="19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CARLOS É UM CASO — E VOCÊ?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depende do seu caso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2286000" cy="274320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86000"/>
            <a:ext cx="228600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Autônomo (carnê/RPA)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 a ficar de fora do IBS/CBS — paga IRPF e INSS, não o novo imposto.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28600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286000"/>
            <a:ext cx="2286000" cy="109728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1" name="Text 9"/>
          <p:cNvSpPr/>
          <p:nvPr/>
        </p:nvSpPr>
        <p:spPr>
          <a:xfrm>
            <a:off x="38221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221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Corretor não pode (CRECI). Já é uma decisão tomada por você.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2286000"/>
            <a:ext cx="2286000" cy="109728"/>
          </a:xfrm>
          <a:prstGeom prst="rect">
            <a:avLst/>
          </a:prstGeom>
          <a:solidFill>
            <a:srgbClr val="B08D2E"/>
          </a:solidFill>
          <a:ln/>
        </p:spPr>
      </p:sp>
      <p:sp>
        <p:nvSpPr>
          <p:cNvPr id="15" name="Text 13"/>
          <p:cNvSpPr/>
          <p:nvPr/>
        </p:nvSpPr>
        <p:spPr>
          <a:xfrm>
            <a:off x="65653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PJ no Simples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653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Segue no Simples. No dia a dia, muda pouco.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286000"/>
            <a:ext cx="2286000" cy="27432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52560" y="2286000"/>
            <a:ext cx="228600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930859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PJ no Lucro Presumido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08592" y="361188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caso do Carlos — aqui a conta sobe.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Atenção: a corretagem NÃO está na lista das profissões com redução de 30%</a:t>
            </a: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(advogado, médico, engenheiro...). </a:t>
            </a:r>
          </a:p>
          <a:p>
            <a:pPr marL="0" indent="0" algn="ctr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comissão paga a alíquota cheia.  </a:t>
            </a:r>
            <a:r>
              <a:rPr lang="en-US" sz="1250" i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[LC 214/2025, art. 127]</a:t>
            </a:r>
            <a:endParaRPr lang="en-US" sz="1250" dirty="0"/>
          </a:p>
        </p:txBody>
      </p:sp>
      <p:pic>
        <p:nvPicPr>
          <p:cNvPr id="22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ALUGUEL NO DIA A DIA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carteira de locação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Lembra do Carlos? Além de vender, ele administra 18 aluguéis. Um deles: R$ 2.500/mês, taxa de 10% (R$ 250). Confirme os números com seu contador.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484632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9456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514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TAXA DE ADMINISTRAÇÃO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R$ 250 / mês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43000" y="361188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serviço da imobiliária — hoje ISS ~2–5%.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entra na alíquota cheia de IBS/CBS.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mordida na taxa de administração sobe.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194560"/>
            <a:ext cx="484632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219456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514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ALUGUEL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R$ 2.500 / mês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361188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Locação residencial: redução de 70% na alíquota → efetiva ~7,95%.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Redutor social de R$ 600 por imóvel na base; pequeno locador pode ficar de fora.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absorve: proprietário, inquilino ou a margem da imobiliária?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carteira do Carlos, a conta tem dois donos: o serviço da imobiliária e o aluguel. </a:t>
            </a:r>
          </a:p>
          <a:p>
            <a:pPr marL="0" indent="0" algn="ctr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não souber quem absorve a alta, descobre no reajuste.</a:t>
            </a:r>
            <a:endParaRPr lang="en-US" sz="1350" dirty="0"/>
          </a:p>
        </p:txBody>
      </p:sp>
      <p:pic>
        <p:nvPicPr>
          <p:cNvPr id="17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FISCALIZAÇÃO APERTA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muda para o corretor de imóveis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apartamento que o Carlos vendeu agora tem um “CPF” próprio — e conversa direto com o fisco.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5120640" cy="32461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31720"/>
            <a:ext cx="109728" cy="32461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CIB — o 'CPF do imóvel'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única nacional de cada imóvel.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Locação, venda, cartório e regularização passam a conversar direto com o fisco.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Cruzamento de dados fica muito mais forte.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2331720"/>
            <a:ext cx="4937760" cy="32461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2560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IBS / CBS sobre aluguel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720840" y="3200400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imposto sobre locação não alcança todo mundo da mesma forma.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tem carteira de aluguéis precisa de estratégia para reduzir a mordida.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improviso aqui vira autuação.</a:t>
            </a:r>
            <a:endParaRPr lang="en-US" sz="1350" dirty="0"/>
          </a:p>
        </p:txBody>
      </p:sp>
      <p:pic>
        <p:nvPicPr>
          <p:cNvPr id="12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 · PROFISSÃO REGULAMENTADA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Corretor de imóveis pode ser MEI?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84080" y="548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109728" cy="13716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774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Corretagem de imóveis é profissão regulamentada (CRECI). </a:t>
            </a:r>
          </a:p>
          <a:p>
            <a:pPr marL="0" indent="0">
              <a:buNone/>
            </a:pPr>
            <a:endParaRPr lang="en-US" b="1" dirty="0">
              <a:solidFill>
                <a:srgbClr val="052B5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regra, NÃO se enquadra no MEI.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Carlos também achava que podia ser MEI. Muita gente opera assim — e descobre tarde.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enquadramento certo (autônomo, PJ no Simples, etc.) muda quanto você paga na reforma.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errado hoje é pagar a conta depois.</a:t>
            </a:r>
            <a:endParaRPr lang="en-US" sz="1450" dirty="0"/>
          </a:p>
        </p:txBody>
      </p:sp>
      <p:pic>
        <p:nvPicPr>
          <p:cNvPr id="9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LUCROS, DIVIDENDOS E RETIRADAS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Imposto de Renda: o que muda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548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REGRA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Dividendos eram isentos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1996, sócio recebia lucro sem IR.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Dividendos são tributados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retido na fonte quando o total mensal de uma mesma empresa passar de R$ 50 mil.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Planejamento, não susto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4160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societária, holdings e retiradas planejadas para não pagar a mais.</a:t>
            </a:r>
            <a:endParaRPr lang="en-US" sz="1300" dirty="0"/>
          </a:p>
        </p:txBody>
      </p:sp>
      <p:pic>
        <p:nvPicPr>
          <p:cNvPr id="17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CONSEQUÊNCIAS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acontece com o corretor despreparado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50292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10972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780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Paga mais imposto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sobe e a margem encolhe sem ele perceber.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240280"/>
            <a:ext cx="50292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2240280"/>
            <a:ext cx="10972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4780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Precifica errado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971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entender a nova conta, erra a comissão e o repasse.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50292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886200"/>
            <a:ext cx="10972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1239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Perde mercado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617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já se adaptou fecha o negócio que ele perde.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886200"/>
            <a:ext cx="5029200" cy="13716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886200"/>
            <a:ext cx="109728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1239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Continua gastando como antes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4617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entra diminui — o padrão de vida, não.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Carlos teve duas opções: ser esse corretor — ou o do próximo slide.</a:t>
            </a:r>
            <a:endParaRPr lang="en-US" sz="1800" dirty="0"/>
          </a:p>
        </p:txBody>
      </p:sp>
      <p:pic>
        <p:nvPicPr>
          <p:cNvPr id="21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CARLOS ESCOLHEU ESTE LADO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corretor preparado faz 4 coisas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8992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 com o contador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78992" y="4160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Descobre, no caso dele, o que muda — antes de a regra pegar.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37744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3822192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22192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Revisa os contratos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822192" y="4160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 comissão, repasse e cláusulas à nova conta.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377440"/>
            <a:ext cx="22860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65392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Entende o próprio regime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65392" y="4160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Autônomo, Simples ou PJ — escolhe com critério, não no susto.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2377440"/>
            <a:ext cx="2286000" cy="274320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525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21" name="Text 19"/>
          <p:cNvSpPr/>
          <p:nvPr/>
        </p:nvSpPr>
        <p:spPr>
          <a:xfrm>
            <a:off x="9308592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308592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Protege o caixa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308592" y="4160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ganhar mais não é o mesmo que ficar com mais.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“Proteger o caixa” é a ponte: a reforma decide quanto entra; o que sobra, quem decide é você.</a:t>
            </a:r>
            <a:endParaRPr lang="en-US" sz="1300" dirty="0"/>
          </a:p>
        </p:txBody>
      </p:sp>
      <p:pic>
        <p:nvPicPr>
          <p:cNvPr id="25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TELEFONEMA DO CARLOS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perguntas pro seu contador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87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meu caso, vou pagar mais?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218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meu enquadramento (autônomo, Simples ou PJ), a reforma sobe a minha conta?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28600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487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 a pena mudar de regime?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3218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Simples, Lucro Presumido, virar PJ — o que me protege melhor?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7764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178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480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 minha carteira de locação?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97280" y="49103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ficam os aluguéis que eu administro e o imposto sobre eles?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029200" cy="14173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977640"/>
            <a:ext cx="109728" cy="14173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178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4480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faço nos próximos 90 dias?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49103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o primeiro passo que não pode esperar?</a:t>
            </a:r>
            <a:endParaRPr lang="en-US" sz="1200" dirty="0"/>
          </a:p>
        </p:txBody>
      </p:sp>
      <p:pic>
        <p:nvPicPr>
          <p:cNvPr id="24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DA REFORMA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age agora sai na frente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burocracia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sistema, uma linguagem. Menos obrigações acessórias no longo prazo.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30175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 mais previsível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 clara, base limpa. Precificar e planejar com mais critério.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200400" cy="301752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377440"/>
            <a:ext cx="109728" cy="301752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Vantagem competitiva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12480" y="4160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corretor preparado atende quem já se adaptou — e fecha negócios que o concorrente despreparado perde.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reforma é neutra. O que diferencia é a preparação — quem age agora compete no mesmo campo que as grandes empresas.</a:t>
            </a:r>
            <a:endParaRPr lang="en-US" sz="1350" dirty="0"/>
          </a:p>
        </p:txBody>
      </p:sp>
      <p:pic>
        <p:nvPicPr>
          <p:cNvPr id="20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DO IMPACTO DA REFORMA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423160"/>
            <a:ext cx="109728" cy="914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377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Mãos na massa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3566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não é teoria. Pegue a folha do Diagnóstico e descubra, no seu caso, onde a reforma ajuda, onde atrapalha — e o que você precisa fazer para se preparar.</a:t>
            </a:r>
            <a:endParaRPr lang="en-US" sz="1800" dirty="0"/>
          </a:p>
        </p:txBody>
      </p:sp>
      <p:pic>
        <p:nvPicPr>
          <p:cNvPr id="6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FALAR DO SEU DINHEIRO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109728" cy="914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91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perguntas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10515600" cy="12344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109728" cy="12344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9900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</a:t>
            </a: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aqui acredita que vai pagar mais imposto?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10515600" cy="123444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4206240"/>
            <a:ext cx="109728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4074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</a:t>
            </a: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aqui sabe exatamente quanto custa manter a própria vida por mês?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234440" y="491032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você já sabe responder. A segunda é a que decide se você aguenta a primeira.</a:t>
            </a:r>
            <a:endParaRPr lang="en-US" sz="1400" dirty="0"/>
          </a:p>
        </p:txBody>
      </p:sp>
      <p:pic>
        <p:nvPicPr>
          <p:cNvPr id="14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FINANÇAS PESSOAIS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194560"/>
            <a:ext cx="109728" cy="17373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148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corretores, a mesma comissão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88136" y="274320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e um colega fecham os mesmos R$ 20 mil. A reforma sobe o imposto dos dois, igual. O colega já cuidava do próprio dinheiro — segue firme. O Carlos nunca parou pra isso — e sente o aperto.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49834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diferença não foi quanto venderam. </a:t>
            </a:r>
          </a:p>
          <a:p>
            <a:pPr marL="0" indent="0">
              <a:buNone/>
            </a:pPr>
            <a:endParaRPr lang="en-US" sz="1900" b="1" i="1" dirty="0">
              <a:solidFill>
                <a:srgbClr val="B08D2E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sz="1900" b="1" i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 o que fizeram com o dinheiro antes da reforma.</a:t>
            </a:r>
            <a:endParaRPr lang="en-US" sz="1900" dirty="0"/>
          </a:p>
        </p:txBody>
      </p:sp>
      <p:pic>
        <p:nvPicPr>
          <p:cNvPr id="7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CORRETOR SE PERDE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dois erros que mais custam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4846320" cy="32004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484632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3154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conta da empresa não é a sua conta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43000" y="40233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comissão cai na conta e some misturada com o pessoal. Você nunca sabe quanto a empresa deu — nem quanto você custa.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4846320" cy="3200400"/>
          </a:xfrm>
          <a:prstGeom prst="rect">
            <a:avLst/>
          </a:prstGeom>
          <a:solidFill>
            <a:srgbClr val="FBEDE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194560"/>
            <a:ext cx="484632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92240" y="3154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Renda variável, boletos fixos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92240" y="402336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de 3 vendas, mês de zero. Quem gasta no ritmo do mês bom quebra no mês seco. Critério: pagar-se um pró-labore fixo.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Improviso na vida pessoal vira pressão no negócio.</a:t>
            </a:r>
            <a:endParaRPr lang="en-US" sz="1500" dirty="0"/>
          </a:p>
        </p:txBody>
      </p:sp>
      <p:pic>
        <p:nvPicPr>
          <p:cNvPr id="15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TE TIRA DO ESCURO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 número e sua reserva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4846320" cy="32004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109728" cy="3200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20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VIDA MÍNIMO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971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 sua vida custa por mês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7490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número de comissões que você é obrigado a fechar para se manter vivo. Quem não sabe o próprio número, vende no escuro.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4846320" cy="3200400"/>
          </a:xfrm>
          <a:prstGeom prst="rect">
            <a:avLst/>
          </a:prstGeom>
          <a:solidFill>
            <a:srgbClr val="EAF3EC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2194560"/>
            <a:ext cx="4846320" cy="109728"/>
          </a:xfrm>
          <a:prstGeom prst="rect">
            <a:avLst/>
          </a:prstGeom>
          <a:solidFill>
            <a:srgbClr val="2E7D4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5420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DE OSCILAÇÃO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971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luxo. É o caixa do mês seco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7490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no mês bom o que paga o mês fraco. Diferente da reserva de emergência, que cobre o imprevisto — não a sazonalidade.</a:t>
            </a:r>
            <a:endParaRPr lang="en-US" sz="1300" dirty="0"/>
          </a:p>
        </p:txBody>
      </p:sp>
      <p:pic>
        <p:nvPicPr>
          <p:cNvPr id="14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PASSOS, UNS 10 MINUTOS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preencher a planilha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004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Comece pelos campos em amarelo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4069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renda do mês e quanto você já tem de reserva. Só isso já te dá o diagnóstico.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2004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Lance seus gastos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4069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aba Lançamentos: data, categoria, valor — e marque se é fixo (todo mês) ou variável. As categorias já vêm prontas.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200400" cy="27432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377440"/>
            <a:ext cx="109728" cy="27432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41248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Leia o Painel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4069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se monta sozinho: seu custo de vida mínimo, pra onde o dinheiro vai e quanto falta pra sua reserva.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precisa estar perfeito. Comece com uma semana de gastos — o resto vem.</a:t>
            </a:r>
            <a:endParaRPr lang="en-US" sz="1350" dirty="0"/>
          </a:p>
        </p:txBody>
      </p:sp>
      <p:pic>
        <p:nvPicPr>
          <p:cNvPr id="20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45719" cy="1884568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7373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Daqui a alguns anos, ninguém vai te perguntar qual era a alíquota do IBS.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2551176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muita gente vai lembrar do ano em que começou a sobrar menos. Uns vão dizer: “a reforma acabou com a minha margem.” Outros: “foi o ano em que aprendi a administrar o meu negócio.”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4526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lei é a mesma. O imposto é o mesmo. O que muda é o empresário.</a:t>
            </a:r>
            <a:endParaRPr lang="en-US" sz="2400" dirty="0"/>
          </a:p>
        </p:txBody>
      </p:sp>
      <p:pic>
        <p:nvPicPr>
          <p:cNvPr id="7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ÚLTIMA COISA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109728" cy="128016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algum momento dessa história, você se viu no Carlos?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97280" y="2697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Carlos nunca existiu. Ele é feito de pedaços de muitos corretores que a gente conhece. Talvez, hoje, ele tenha tido o seu nome.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10515600" cy="1143000"/>
          </a:xfrm>
          <a:prstGeom prst="rect">
            <a:avLst/>
          </a:prstGeom>
          <a:solidFill>
            <a:srgbClr val="052B5A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4114800"/>
            <a:ext cx="9784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F2E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reforma não quebra quem é organizado. </a:t>
            </a:r>
          </a:p>
          <a:p>
            <a:pPr marL="0" indent="0" algn="ctr">
              <a:buNone/>
            </a:pPr>
            <a:r>
              <a:rPr lang="en-US" sz="1900" b="1" i="1" dirty="0">
                <a:solidFill>
                  <a:srgbClr val="F2E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 expõe quem vivia no improviso.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escolha do Carlos — e a sua — começa agora.</a:t>
            </a:r>
            <a:endParaRPr lang="en-US" sz="1400" dirty="0"/>
          </a:p>
        </p:txBody>
      </p:sp>
      <p:pic>
        <p:nvPicPr>
          <p:cNvPr id="9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NASCEU PRA VENDER CURSO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Vero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 exatamente por ver corretores como o Carlos — que vendem bem e sobram mal — que a Vero existe.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3200400" cy="28346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97480"/>
            <a:ext cx="109728" cy="28346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2519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por critério, em fases. O empresário para de se perder, recomeçar e acumular.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2697480"/>
            <a:ext cx="3200400" cy="28346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697480"/>
            <a:ext cx="109728" cy="28346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de negócios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42519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no tema certo, na hora certa — como esta sessão de hoje.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697480"/>
            <a:ext cx="3200400" cy="283464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697480"/>
            <a:ext cx="109728" cy="283464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926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412480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Treinamentos modulares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42519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práticos e curtos. Você escolhe o módulo que resolve a sua dor agora.</a:t>
            </a:r>
            <a:endParaRPr lang="en-US" sz="1250" dirty="0"/>
          </a:p>
        </p:txBody>
      </p:sp>
      <p:pic>
        <p:nvPicPr>
          <p:cNvPr id="20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DA COMUNIDADE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Sua ferramenta começa simples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6035040" cy="320040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109728" cy="32004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DE CONTROLE DE GASTOS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31089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com seu custo de vida mínimo, % por categoria e reserva.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Lançamentos já com exemplos do dia a dia do corretor.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primeiro passo para parar de improvisar em casa.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2286000"/>
            <a:ext cx="4023360" cy="320040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3524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ou Google Sheets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35240" y="32918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no celular ou no computador. Você preenche, ela mostra onde o dinheiro vaza.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Entregue na comunidade →</a:t>
            </a:r>
            <a:endParaRPr lang="en-US" sz="1200" dirty="0"/>
          </a:p>
        </p:txBody>
      </p:sp>
      <p:pic>
        <p:nvPicPr>
          <p:cNvPr id="12" name="Image 0" descr="/Users/Lucas-Lenovo/Vero - Escola de Empresários/_contexto/logos/vero-v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382512"/>
            <a:ext cx="310896" cy="2651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109960" y="63825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VERO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109728" cy="1828800"/>
          </a:xfrm>
          <a:prstGeom prst="rect">
            <a:avLst/>
          </a:prstGeom>
          <a:solidFill>
            <a:srgbClr val="DEBB5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2296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reforma não é só mudança de imposto. </a:t>
            </a:r>
            <a:r>
              <a:rPr lang="en-US" sz="2600" i="1" dirty="0">
                <a:solidFill>
                  <a:srgbClr val="B08D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mudança de lógica.</a:t>
            </a:r>
            <a:r>
              <a:rPr lang="en-US" sz="2600" i="1" dirty="0">
                <a:solidFill>
                  <a:srgbClr val="05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Quem entender a cadeia e agir antes paga melhor e compete melhor.”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D46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preparo, a reforma vira um detector de empresa mal gerida.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749040"/>
            <a:ext cx="5120640" cy="2103120"/>
          </a:xfrm>
          <a:prstGeom prst="rect">
            <a:avLst/>
          </a:prstGeom>
          <a:solidFill>
            <a:srgbClr val="F5F1E6"/>
          </a:solidFill>
          <a:ln w="12700">
            <a:solidFill>
              <a:srgbClr val="E3DECF"/>
            </a:solidFill>
            <a:prstDash val="solid"/>
          </a:ln>
          <a:effectLst>
            <a:outerShdw blurRad="88900" dist="25400" dir="8100000" algn="bl" rotWithShape="0">
              <a:srgbClr val="5A5A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08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NA COMUNIDADE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4434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5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das próximas imersões, materiais e os próximos módulos.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2103120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E3DE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4526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961120" y="3749040"/>
            <a:ext cx="2103120" cy="2103120"/>
          </a:xfrm>
          <a:prstGeom prst="rect">
            <a:avLst/>
          </a:prstGeom>
          <a:solidFill>
            <a:srgbClr val="052B5A"/>
          </a:solidFill>
          <a:ln/>
        </p:spPr>
      </p:sp>
      <p:pic>
        <p:nvPicPr>
          <p:cNvPr id="12" name="Image 0" descr="/Users/Lucas-Lenovo/Vero - Escola de Empresários/_contexto/logos/vero-v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4" y="4192744"/>
            <a:ext cx="1261872" cy="108813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E7BB975-B7AE-AC1D-DB5B-138331224A27}"/>
              </a:ext>
            </a:extLst>
          </p:cNvPr>
          <p:cNvPicPr>
            <a:picLocks/>
          </p:cNvPicPr>
          <p:nvPr/>
        </p:nvPicPr>
        <p:blipFill>
          <a:blip r:embed="rId4"/>
          <a:srcRect l="25445" t="38667" r="25169" b="38666"/>
          <a:stretch>
            <a:fillRect/>
          </a:stretch>
        </p:blipFill>
        <p:spPr>
          <a:xfrm>
            <a:off x="6400800" y="374904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2526</Words>
  <Application>Microsoft Macintosh PowerPoint</Application>
  <PresentationFormat>Widescreen</PresentationFormat>
  <Paragraphs>353</Paragraphs>
  <Slides>29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2" baseType="lpstr">
      <vt:lpstr>Arial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Reforma Tributária para Corretores de Imóveis — v5</dc:title>
  <dc:subject>PptxGenJS Presentation</dc:subject>
  <dc:creator>Vero — Escola de Empresários</dc:creator>
  <cp:lastModifiedBy>Lucas Borges</cp:lastModifiedBy>
  <cp:revision>4</cp:revision>
  <dcterms:created xsi:type="dcterms:W3CDTF">2026-06-27T01:32:11Z</dcterms:created>
  <dcterms:modified xsi:type="dcterms:W3CDTF">2026-06-27T02:10:58Z</dcterms:modified>
</cp:coreProperties>
</file>