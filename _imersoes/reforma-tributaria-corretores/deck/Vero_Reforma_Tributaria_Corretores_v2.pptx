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143000" cy="11430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3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00100"/>
            <a:ext cx="685800" cy="591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66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2402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DE EMPRESÁRIOS  ·  HUB DE NEGÓCIOS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09728" cy="21031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Reforma Tributária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</a:t>
            </a:r>
            <a:pPr indent="0" marL="0">
              <a:buNone/>
            </a:pPr>
            <a:r>
              <a:rPr lang="en-US" sz="44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Corretores de Imóveis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preparar antes de a regra mudar — não depois.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 · LUCAS · ERNANE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conduz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· TREINAMENTOS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o improviso e forma quem opera com critério. Uma escola para empresários de verdade.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[sobrenome]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Ernane [sobrenome]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campos com [ ] serão preenchidos com a trajetória de Lucas e Ernane.</a:t>
            </a:r>
            <a:endParaRPr lang="en-US" sz="10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fase está a Reforma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E3DE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transição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e IBS começam a ser cobrados em teste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transição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Convivência dos dois sistemas e extinção gradual dos antigos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após 2033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imposto único em pleno funcionamento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pra amanhã — mas começa agora. Quem se prepara cedo decide com calma; quem espera, decide no susto.</a:t>
            </a:r>
            <a:endParaRPr lang="en-US" sz="1350" dirty="0"/>
          </a:p>
        </p:txBody>
      </p:sp>
      <p:pic>
        <p:nvPicPr>
          <p:cNvPr id="18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LUGAR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Vários impostos viram um só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PIS e COFINS num imposto só.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06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MUNICÍPIOS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ICMS e ISS — o ISS é o que você paga hoje.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Seletivo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sobre produtos específicos (cigarro, bebida...). Não é o seu caso.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Juntos, CBS + IBS formam o novo imposto sobre consumo. A alíquota de referência estimada é ~26,5%.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MUDANÇAS QUE IMPORTAM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a lógica, não só a alíquota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94560" y="25420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Acaba o imposto sobre imposto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5420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compra de quem também paga imposto vira desconto. Esse desconto é o 'crédito'.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5032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49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84962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imposto vai pra onde está o cliente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84962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importa mais onde você é registrado — e sim onde o cliente está.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992624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92624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57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94560" y="5157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 quase não tem o que descontar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515721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vende o seu trabalho, não mercadoria. Por isso o serviço sente mais.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SETOR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atinge todo mundo igual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32004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GANHAR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insumo para descontar. Paga sobre menos.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32004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Comércio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006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DE MARGEM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o que descontar, mas a concorrência aperta o preço.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29260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32004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IMPACTO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 para descontar. A alíquota sobe.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</a:t>
            </a:r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</a:t>
            </a:r>
            <a:pPr algn="ctr"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O lado mais pressionado da reforma.</a:t>
            </a:r>
            <a:endParaRPr lang="en-US" sz="16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MECÂNICA DO CRÉDITO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 x serviço: quem tem o que descontar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receita no mês: R$ 20.000  ·  IVA de referência ~26,5% (CBS + IBS)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846320" cy="315468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 (VENDE PRODUTO)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990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Comprou mercadoria: </a:t>
            </a:r>
            <a:pPr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R$ 12.000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319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sobre a venda (26,5%): </a:t>
            </a:r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R$ 5.300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648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Desconta a mercadoria: </a:t>
            </a:r>
            <a:pPr indent="0" marL="0">
              <a:buNone/>
            </a:pPr>
            <a:r>
              <a:rPr lang="en-US" sz="13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R$ 3.180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4023360"/>
            <a:ext cx="4206240" cy="0"/>
          </a:xfrm>
          <a:prstGeom prst="line">
            <a:avLst/>
          </a:prstGeom>
          <a:noFill/>
          <a:ln w="12700">
            <a:solidFill>
              <a:srgbClr val="2E7D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Paga: R$ 2.120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10,6% da receita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2200" y="2240280"/>
            <a:ext cx="4846320" cy="315468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24028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 (VENDE SERVIÇO)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990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 com crédito: </a:t>
            </a:r>
            <a:pPr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R$ 0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319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sobre a comissão (26,5%): </a:t>
            </a:r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R$ 5.300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648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o que descontar: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420624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Paga: R$ 5.300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26,5% da receita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receita. A loja desconta o que comprou; você vende seu trabalho e não tem o que descontar. Não é punição — é a mecânica do crédito.</a:t>
            </a:r>
            <a:endParaRPr lang="en-US" sz="1300" dirty="0"/>
          </a:p>
        </p:txBody>
      </p:sp>
      <p:pic>
        <p:nvPicPr>
          <p:cNvPr id="25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NO SEU BOLSO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comissão: hoje x depois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 PJ no Lucro Presumido · R$ 20.000/mês em comissões · só os impostos que a reforma troca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383280" cy="26517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R$ 1.730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5% → R$ 1.000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3,65% → R$ 730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3383280" cy="265176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R$ 5.300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IBS/CBS 26,5% → R$ 5.300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 descontar: ≈ R$ 0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240280"/>
            <a:ext cx="2834640" cy="26517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3x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503920" y="3703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imposto sobre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8,65% para 26,5%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só de ISS/PIS/COFINS → IBS/CBS. Imposto de Renda é outra conta. E a conta muda conforme o seu caso — é o próximo slide.</a:t>
            </a:r>
            <a:endParaRPr lang="en-US" sz="125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ENTRAR EM PÂNICO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depende do seu caso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286000" cy="27432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22860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Autônomo (carnê/RPA)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ficar de fora do IBS/CBS — paga IRPF e INSS, não o novo imposto.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221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 não pode (CRECI). Já é uma decisão tomada por você.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Simples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no Simples. No dia a dia, muda pouco.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286000"/>
            <a:ext cx="2286000" cy="27432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2286000"/>
            <a:ext cx="2286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Lucro Presumido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085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aqui que a conta sobe — o caso do slide anterior.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haver ainda redução de 30% para profissões regulamentadas</a:t>
            </a:r>
            <a:pPr algn="ctr"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 a corretagem entrar na lista, a alíquota cai para ~18,5%.  </a:t>
            </a:r>
            <a:pPr algn="ctr" indent="0" marL="0">
              <a:buNone/>
            </a:pPr>
            <a:r>
              <a:rPr lang="en-US" sz="125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[confirmar com contador]</a:t>
            </a:r>
            <a:endParaRPr lang="en-US" sz="1250" dirty="0"/>
          </a:p>
        </p:txBody>
      </p:sp>
      <p:pic>
        <p:nvPicPr>
          <p:cNvPr id="22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 NO DIA A DIA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carteira de locação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aluguel de R$ 2.500/mês · imobiliária administra (taxa 10% = R$ 250) · confirme os números com seu contador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TAXA DE ADMINISTRAÇÃO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R$ 250 / mês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serviço da imobiliária — hoje ISS ~2–5%.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entra na alíquota cheia de IBS/CBS.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mordida na sua taxa de administração sobe.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R$ 2.500 / mês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específico de imóveis: redução de 50% na alíquota (~13,25%).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Redutor social na locação residencial; pequeno locador pode ser isento.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absorve: proprietário, inquilino ou a margem da imobiliária?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locação, a conta tem dois donos: o serviço da imobiliária e o aluguel. Quem não souber quem absorve a alta, descobre no reajuste.</a:t>
            </a:r>
            <a:endParaRPr lang="en-US" sz="135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FISCALIZAÇÃO APERTA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para o corretor de imóveis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 — o 'CPF do imóvel'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única nacional de cada imóvel.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Locação, venda, cartório e regularização passam a conversar direto com o fisco.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de dados fica muito mais forte.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493776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 / CBS sobre aluguel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20840" y="32461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sobre locação não alcança todo mundo da mesma forma.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carteira de aluguéis precisa de estratégia para reduzir a mordida.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improviso aqui vira autuação.</a:t>
            </a:r>
            <a:endParaRPr lang="en-US" sz="1350" dirty="0"/>
          </a:p>
        </p:txBody>
      </p:sp>
      <p:pic>
        <p:nvPicPr>
          <p:cNvPr id="11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 · PROFISSÃO REGULAMENTADA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 de imóveis pode ser MEI?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09728" cy="13716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profissão regulamentada (CRECI). 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regra, NÃO se enquadra no MEI.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 gente opera achando que pode — e descobre tarde.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certo (autônomo, PJ no Simples, etc.) muda quanto você paga na reforma.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errado hoje é pagar a conta depois.</a:t>
            </a:r>
            <a:endParaRPr lang="en-US" sz="1450" dirty="0"/>
          </a:p>
        </p:txBody>
      </p:sp>
      <p:pic>
        <p:nvPicPr>
          <p:cNvPr id="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LUCROS, DIVIDENDOS E RETIRADAS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de Renda: o que muda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REGRA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eram isentos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1996, sócio recebia lucro sem 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Passam a ser tributados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Retiradas acima de R$ 50 mil viram fato gerador — até 15% de imposto.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Planejamento, não susto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societária, holdings e retiradas planejadas para não pagar a mais.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preço de não se preparar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Perda financeira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imposto a mais reduz sua margem.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Multas e autuações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Divergências viram penalidade.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233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Restrição de mercado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atender quem já se adaptou.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33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Margem apertada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Impossível competir em igualdade.</a:t>
            </a:r>
            <a:endParaRPr lang="en-US" sz="13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SAIA DAQUI COM TAREFA, NÃO COM SUSTO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perguntas pro seu contador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meu caso, vou pagar mais?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meu enquadramento (autônomo, Simples ou PJ), a reforma sobe a minha conta?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mudar de regime?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Lucro Presumido, virar PJ — o que me protege melhor?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minha carteira de locação?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ficam os aluguéis que eu administro e o imposto sobre eles?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faço nos próximos 90 dias?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o primeiro passo que não pode esperar?</a:t>
            </a:r>
            <a:endParaRPr lang="en-US" sz="1200" dirty="0"/>
          </a:p>
        </p:txBody>
      </p:sp>
      <p:pic>
        <p:nvPicPr>
          <p:cNvPr id="24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DA REFORMA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age agora sai na frente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burocracia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sistema, uma linguagem. Menos obrigações acessórias no longo prazo.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mais previsível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clara, base limpa. Precificar e planejar com mais critério.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Vantagem competitiva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preparado atende quem já se adaptou — e fecha negócios que o concorrente despreparado perde.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é neutra. O que diferencia é a preparação — quem age agora compete no mesmo campo que as grandes empresas.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Mãos na massa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não é teoria. Pegue a folha e descubra, no seu caso, onde a reforma ajuda e onde atrapalha — e o que você precisa fazer para se preparar.</a:t>
            </a:r>
            <a:endParaRPr lang="en-US" sz="1800" dirty="0"/>
          </a:p>
        </p:txBody>
      </p:sp>
      <p:pic>
        <p:nvPicPr>
          <p:cNvPr id="6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DE NEGÓCIOS · TREINAMENTOS MODULARES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por critério, em fases. O empresário para de se perder, recomeçar e acumular.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de negócios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no tema certo, na hora certa — como esta sessão de hoje.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Treinamentos modulares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práticos e curtos. Você escolhe o módulo que resolve a sua dor agora.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 PESSOAIS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09728" cy="155448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aperta o negócio. </a:t>
            </a:r>
            <a:pPr indent="0" marL="0">
              <a:buNone/>
            </a:pPr>
            <a:r>
              <a:rPr lang="en-US" sz="4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em casa?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margem encolhe, a primeira defesa não é vender mais — é parar de vazar dinheiro na vida pessoal.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526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lembra do Imposto de Renda? O que sobra pra você também muda. Vida pessoal sem critério vira pressão no negócio.</a:t>
            </a:r>
            <a:endParaRPr lang="en-US" sz="1500" dirty="0"/>
          </a:p>
        </p:txBody>
      </p:sp>
      <p:pic>
        <p:nvPicPr>
          <p:cNvPr id="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CORRETOR SE PERDE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erros que mais custam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da empresa não é a sua conta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cai na conta e some misturada com o pessoal. Você nunca sabe quanto a empresa deu — nem quanto você custa.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Renda variável, boletos fixos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3 vendas, mês de zero. Quem gasta no ritmo do mês bom quebra no mês seco. Critério: pagar-se um pró-labore fixo.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Improviso na vida pessoal vira pressão no negócio.</a:t>
            </a:r>
            <a:endParaRPr lang="en-US" sz="1500" dirty="0"/>
          </a:p>
        </p:txBody>
      </p:sp>
      <p:pic>
        <p:nvPicPr>
          <p:cNvPr id="15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TE TIRA DO ESCURO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número e sua reserva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VIDA MÍNIMO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sua vida custa por mês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número de comissões que você é obrigado a fechar para se manter vivo. Quem não sabe o próprio número, vende no escuro.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OSCILAÇÃO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luxo. É o caixa do mês seco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no mês bom o que paga o mês fraco. Diferente da reserva de emergência, que cobre o imprevisto — não a sazonalidade.</a:t>
            </a:r>
            <a:endParaRPr lang="en-US" sz="1300" dirty="0"/>
          </a:p>
        </p:txBody>
      </p:sp>
      <p:pic>
        <p:nvPicPr>
          <p:cNvPr id="14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DA COMUNIDADE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ferramenta começa simples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03504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CONTROLE DE GASTOS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1089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com seu custo de vida mínimo, % por categoria e reserva.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já com exemplos do dia a dia do corretor.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passo para parar de improvisar em casa.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4023360" cy="3200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ou Google Sheets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3524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no celular ou no computador. Você preenche, ela mostra onde o dinheiro vaza.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 na comunidade →</a:t>
            </a:r>
            <a:endParaRPr lang="en-US" sz="1200" dirty="0"/>
          </a:p>
        </p:txBody>
      </p:sp>
      <p:pic>
        <p:nvPicPr>
          <p:cNvPr id="12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PASSOS, UNS 10 MINUTOS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preencher a planilha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pelos campos em amarelo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renda do mês e quanto você já tem de reserva. Só isso já te dá o diagnóstico.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 seus gastos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Lançamentos: data, categoria, valor — e marque se é fixo (todo mês) ou variável. As categorias já vêm prontas.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4124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Leia o Painel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se monta sozinho: seu custo de vida mínimo, pra onde o dinheiro vai e quanto falta pra sua reserva.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estar perfeito. Comece com uma semana de gastos — o resto vem.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9728" cy="18288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229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reforma não é só mudança de imposto. </a:t>
            </a:r>
            <a:pPr indent="0" marL="0">
              <a:buNone/>
            </a:pPr>
            <a:r>
              <a:rPr lang="en-US" sz="2600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mudança de lógica.</a:t>
            </a:r>
            <a:pPr indent="0" marL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entender a cadeia e agir antes paga melhor e compete melhor.”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preparo, a reforma vira um detector de empresa mal gerida.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5120640" cy="2103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NA COMUNIDADE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4348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das próximas imersões, materiais, os próximos módulos — e a planilha de controle de gastos de bônus.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link da Comunidade do WhatsApp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10312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3794760"/>
            <a:ext cx="914400" cy="9144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12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995928"/>
            <a:ext cx="548640" cy="4731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92124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69680" y="461772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Vero. Do italiano: verdadeiro.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 Tributária para Corretores de Imóveis — v2</dc:title>
  <dc:subject>PptxGenJS Presentation</dc:subject>
  <dc:creator>Vero — Escola de Empresários</dc:creator>
  <cp:lastModifiedBy>Vero — Escola de Empresários</cp:lastModifiedBy>
  <cp:revision>1</cp:revision>
  <dcterms:created xsi:type="dcterms:W3CDTF">2026-06-27T00:00:00Z</dcterms:created>
  <dcterms:modified xsi:type="dcterms:W3CDTF">2026-06-27T00:00:00Z</dcterms:modified>
</cp:coreProperties>
</file>