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143000" cy="11430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3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00100"/>
            <a:ext cx="685800" cy="591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66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2402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DE EMPRESÁRIOS  ·  HUB DE NEGÓCIOS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09728" cy="21031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Reforma Tributária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</a:t>
            </a:r>
            <a:pPr indent="0" marL="0">
              <a:buNone/>
            </a:pPr>
            <a:r>
              <a:rPr lang="en-US" sz="44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Corretores de Imóveis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preparar antes de a regra mudar — não depois.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 · LUCAS · ERNANE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conduz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· TREINAMENTOS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o improviso e forma quem opera com critério. Uma escola para empresários de verdade.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[sobrenome]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Ernane [sobrenome]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campos com [ ] serão preenchidos com a trajetória de Lucas e Ernane.</a:t>
            </a:r>
            <a:endParaRPr lang="en-US" sz="10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fase está a Reforma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E3DE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transição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 e IBS começam a ser cobrados em teste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transição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Convivência dos dois sistemas e extinção gradual dos benefícios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após 2033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dual em pleno funcionamento</a:t>
            </a:r>
            <a:endParaRPr lang="en-US" sz="120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LUGAR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novo modelo: um IVA dual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PIS e COFINS. Cobrada pela União.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006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E MUNICÍPIOS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 ICMS e ISS. Cobrança compartilhada.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Seletivo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4114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produtos específicos (o 'imposto do pecado').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PRINCÍPIOS NOVOS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a lógica, não só a alíquota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94560" y="25786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Não-cumulatividade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217920" y="2542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 o 'imposto sobre imposto'. O que você paga na cadeia vira crédito.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5032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49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Tributação no destino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17920" y="38496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vai para onde está o cliente. Acaba a vantagem por localização.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992624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92624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57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94560" y="519379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Crédito financeiro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17920" y="515721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crédito passa a ser financeiro, não escriturário — exige ler a cadeia inteira.</a:t>
            </a:r>
            <a:endParaRPr lang="en-US" sz="135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POR SETOR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atinge todo mundo igual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32004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GANHAR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crédito de insumo. Fim da cumulatividade favorece.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292608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32004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Comércio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006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PRESSÃO DE MARGEM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e concorrência apertam o preço.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29260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32004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IMPACTO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crédito de insumo. Alíquota nominal sobe.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</a:t>
            </a:r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</a:t>
            </a:r>
            <a:pPr algn="ctr"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O lado mais pressionado da reforma.</a:t>
            </a:r>
            <a:endParaRPr lang="en-US" sz="16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INDÚSTRIA COMEMORA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A — a indústria que ganha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 metalúrgica · faturamento R$ 1.000.000/mês · insumos R$ 400.000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383280" cy="23774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R$ 266.500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cumulativo + ICMS + IPI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377440"/>
            <a:ext cx="3383280" cy="23774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1546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R$ 150.000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937760" y="4023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não-cumulativo (≈25%) menos créditos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0" y="2377440"/>
            <a:ext cx="2834640" cy="237744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3017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−44%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503920" y="4069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imposto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indústria ganha porque tem muito crédito de insumo para abater. Guarde esse detalhe.</a:t>
            </a:r>
            <a:endParaRPr lang="en-US" sz="135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OUTRO LADO DA CADEIA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B — e o corretor?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ilustrativo · PJ fora do Simples Nacional · confirmar carga real com seu contador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383280" cy="26060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R$ 1.695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2% → R$ 600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3,65% → R$ 1.095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3383280" cy="260604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7889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R$ 7.500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35661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25% → R$ 7.500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Créditos: ≈ R$ 0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2194560"/>
            <a:ext cx="2834640" cy="260604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24231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+342%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50392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imposto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ilustrativo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reforma que </a:t>
            </a:r>
            <a:pPr indent="0" marL="0">
              <a:buNone/>
            </a:pPr>
            <a:r>
              <a:rPr lang="en-US" sz="1350" b="1" i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 a indústria</a:t>
            </a:r>
            <a:pPr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pode </a:t>
            </a:r>
            <a:pPr indent="0" marL="0">
              <a:buNone/>
            </a:pPr>
            <a:r>
              <a:rPr lang="en-US" sz="135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apertar o corretor</a:t>
            </a:r>
            <a:pPr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diferença é a preparação.</a:t>
            </a:r>
            <a:endParaRPr lang="en-US" sz="1350" dirty="0"/>
          </a:p>
        </p:txBody>
      </p:sp>
      <p:pic>
        <p:nvPicPr>
          <p:cNvPr id="18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LÓGICA DO CRÉDITO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serviço paga mais?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4846320" cy="32004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50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INDÚSTRIA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Receita: </a:t>
            </a:r>
            <a:pPr indent="0" marL="0">
              <a:buNone/>
            </a:pPr>
            <a:r>
              <a:rPr lang="en-US" sz="14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R$ 1.000.000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bruto (25%): </a:t>
            </a:r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R$ 250.000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de insumos: </a:t>
            </a:r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R$ 100.000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3931920"/>
            <a:ext cx="4206240" cy="0"/>
          </a:xfrm>
          <a:prstGeom prst="line">
            <a:avLst/>
          </a:prstGeom>
          <a:noFill/>
          <a:ln w="12700">
            <a:solidFill>
              <a:srgbClr val="2E7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final: R$ 150.000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434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15% da receita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10312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450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8529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Receita: </a:t>
            </a:r>
            <a:pPr indent="0" marL="0">
              <a:buNone/>
            </a:pPr>
            <a:r>
              <a:rPr lang="en-US" sz="14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R$ 30.000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bruto (25%): </a:t>
            </a:r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R$ 7.500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disponível: 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R$ 0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3931920"/>
            <a:ext cx="420624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final: R$ 7.500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4434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25% da receita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55504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crédito é o divisor de águas. A indústria tem insumos físicos para abater. O corretor tem gente — e pessoal não vira crédito de IBS.</a:t>
            </a:r>
            <a:endParaRPr lang="en-US" sz="1350" dirty="0"/>
          </a:p>
        </p:txBody>
      </p:sp>
      <p:pic>
        <p:nvPicPr>
          <p:cNvPr id="23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 NO DIA A DIA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C — a carteira de locação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ilustrativo · imóvel a R$ 3.000/mês · imobiliária administra (10%) · confirme os números com seu contador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ADMINISTRAÇÃO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R$ 300 / mês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Hoje: ISS ~2–5% sobre a taxa.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é serviço — entra na alíquota cheia de IBS/CBS.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mordida na sua taxa de administração sobe.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R$ 3.000 / mês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no regime específico de bens imóveis.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redutor de alíquota — e redutor extra na locação residencial.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absorve: proprietário, inquilino ou a margem da imobiliária?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locação, a conta tem dois donos: o serviço da imobiliária e o aluguel. Quem não souber quem absorve a alta, descobre no reajuste.</a:t>
            </a:r>
            <a:endParaRPr lang="en-US" sz="135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FISCALIZAÇÃO APERTA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para o corretor de imóveis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 — o 'CPF do imóvel'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única nacional de cada imóvel.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Locação, venda, cartório e regularização passam a conversar direto com o fisco.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de dados fica muito mais forte.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493776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 / CBS sobre aluguel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20840" y="32461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sobre locação não alcança todo mundo da mesma forma.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carteira de aluguéis precisa de estratégia para reduzir a mordida.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improviso aqui vira autuação.</a:t>
            </a:r>
            <a:endParaRPr lang="en-US" sz="1350" dirty="0"/>
          </a:p>
        </p:txBody>
      </p:sp>
      <p:pic>
        <p:nvPicPr>
          <p:cNvPr id="11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 · PROFISSÃO REGULAMENTADA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 de imóveis pode ser MEI?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09728" cy="13716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profissão regulamentada (CRECI).  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regra, NÃO se enquadra no MEI.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 gente opera achando que pode — e descobre tarde.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certo (autônomo, PJ no Simples, etc.) muda quanto você paga na reforma.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errado hoje é pagar a conta depois.</a:t>
            </a:r>
            <a:endParaRPr lang="en-US" sz="1450" dirty="0"/>
          </a:p>
        </p:txBody>
      </p:sp>
      <p:pic>
        <p:nvPicPr>
          <p:cNvPr id="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LUCROS, DIVIDENDOS E RETIRADAS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de Renda: o que muda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REGRA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eram isentos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1996, sócio recebia lucro sem 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Passam a ser tributados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Retiradas acima de R$ 50 mil viram fato gerador — até 15% de imposto.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Planejamento, não susto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societária, holdings e retiradas planejadas para não pagar a mais.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preço de não se preparar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Perda financeira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imposto a mais reduz sua margem.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Multas e autuações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Divergências viram penalidade.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233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Restrição de mercado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Dificuldade de atender quem já se adaptou.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33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Margem apertada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Impossível competir em igualdade.</a:t>
            </a:r>
            <a:endParaRPr lang="en-US" sz="130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ICMS, PIS E COFINS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Fim dos benefícios fiscais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benefícios fiscais estaduais e federais serão extintos progressivamente até 2032.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Foram criados fundos de compensação: FNDR (Desenvolvimento Regional) e FCBF (Benefícios Fiscais).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saldo acumulado precisa de planejamento para não perder na transição.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2377440"/>
            <a:ext cx="356616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os benefícios desaparecerem</a:t>
            </a:r>
            <a:endParaRPr lang="en-US" sz="1250" dirty="0"/>
          </a:p>
        </p:txBody>
      </p:sp>
      <p:pic>
        <p:nvPicPr>
          <p:cNvPr id="8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'COMO', NÃO SÓ O 'O QUÊ'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se preparar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 a cadeia inteira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clientes e fornecedores — não só a sua empresa.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Notas fiscais corretas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códigos: CBS, IBS, Classtrib, NBS, CST.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Simples Nacional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CBS/IBS por dentro ou por fora em 2026.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06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Contratos e sistemas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937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preços, contratos e atualizar sistemas.</a:t>
            </a:r>
            <a:endParaRPr lang="en-US" sz="1250" dirty="0"/>
          </a:p>
        </p:txBody>
      </p:sp>
      <p:pic>
        <p:nvPicPr>
          <p:cNvPr id="24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DA REFORMA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age agora sai na frente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burocracia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sistema, uma linguagem. Menos obrigações acessórias no longo prazo.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mais previsível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clara, base limpa. Precificar e planejar com mais critério.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Vantagem competitiva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preparado atende quem já se adaptou — e fecha negócios que o concorrente despreparado perde.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é neutra. O que diferencia é a preparação — quem age agora compete no mesmo campo que as grandes empresas.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Mãos na massa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não é teoria. Pegue a folha e descubra, no seu caso, onde a reforma ajuda e onde atrapalha — e o que você precisa fazer para se preparar.</a:t>
            </a:r>
            <a:endParaRPr lang="en-US" sz="1800" dirty="0"/>
          </a:p>
        </p:txBody>
      </p:sp>
      <p:pic>
        <p:nvPicPr>
          <p:cNvPr id="6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DE NEGÓCIOS · TREINAMENTOS MODULARES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por critério, em fases. O empresário para de se perder, recomeçar e acumular.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de negócios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no tema certo, na hora certa — como esta sessão de hoje.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Treinamentos modulares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práticos e curtos. Você escolhe o módulo que resolve a sua dor agora.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 PESSOAIS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109728" cy="155448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aperta o negócio. </a:t>
            </a:r>
            <a:pPr indent="0" marL="0">
              <a:buNone/>
            </a:pPr>
            <a:r>
              <a:rPr lang="en-US" sz="4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em casa?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margem encolhe, a primeira defesa não é vender mais — é parar de vazar dinheiro na vida pessoal.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526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lembra do Imposto de Renda? O que sobra pra você também muda. Vida pessoal sem critério vira pressão no negócio.</a:t>
            </a:r>
            <a:endParaRPr lang="en-US" sz="1500" dirty="0"/>
          </a:p>
        </p:txBody>
      </p:sp>
      <p:pic>
        <p:nvPicPr>
          <p:cNvPr id="7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CORRETOR SE PERDE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erros que mais custam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da empresa não é a sua conta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cai na conta e some misturada com o pessoal. Você nunca sabe quanto a empresa deu — nem quanto você custa.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Renda variável, boletos fixos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3 vendas, mês de zero. Quem gasta no ritmo do mês bom quebra no mês seco. Critério: pagar-se um pró-labore fixo.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Improviso na vida pessoal vira pressão no negócio.</a:t>
            </a:r>
            <a:endParaRPr lang="en-US" sz="1500" dirty="0"/>
          </a:p>
        </p:txBody>
      </p:sp>
      <p:pic>
        <p:nvPicPr>
          <p:cNvPr id="15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TE TIRA DO ESCURO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número e sua reserva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VIDA MÍNIMO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sua vida custa por mês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número de comissões que você é obrigado a fechar para se manter vivo. Quem não sabe o próprio número, vende no escuro.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OSCILAÇÃO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luxo. É o caixa do mês seco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no mês bom o que paga o mês fraco. Diferente da reserva de emergência, que cobre o imprevisto — não a sazonalidade.</a:t>
            </a:r>
            <a:endParaRPr lang="en-US" sz="1300" dirty="0"/>
          </a:p>
        </p:txBody>
      </p:sp>
      <p:pic>
        <p:nvPicPr>
          <p:cNvPr id="14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DA COMUNIDADE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ferramenta começa simples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03504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CONTROLE DE GASTOS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1089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com seu custo de vida mínimo, % por categoria e reserva.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já com exemplos do dia a dia do corretor.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passo para parar de improvisar em casa.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4023360" cy="3200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ou Google Sheets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3524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no celular ou no computador. Você preenche, ela mostra onde o dinheiro vaza.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 na comunidade →</a:t>
            </a:r>
            <a:endParaRPr lang="en-US" sz="1200" dirty="0"/>
          </a:p>
        </p:txBody>
      </p:sp>
      <p:pic>
        <p:nvPicPr>
          <p:cNvPr id="12" name="Image 0" descr="/Users/Lucas-Lenovo/Vero - Escola de Empresários/_contexto/logos/vero-v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9728" cy="18288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229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reforma não é só mudança de imposto. </a:t>
            </a:r>
            <a:pPr indent="0" marL="0">
              <a:buNone/>
            </a:pPr>
            <a:r>
              <a:rPr lang="en-US" sz="2600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mudança de lógica.</a:t>
            </a:r>
            <a:pPr indent="0" marL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entender a cadeia e agir antes paga melhor e compete melhor.”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preparo, a reforma vira um detector de empresa mal gerida.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5120640" cy="2103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sx="100000" sy="100000" kx="0" ky="0" algn="bl" rotWithShape="0" blurRad="88900" dist="25400" dir="810000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NA COMUNIDADE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4348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das próximas imersões, materiais, os próximos módulos — e a planilha de controle de gastos de bônus.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link da Comunidade do WhatsApp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10312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869680" y="3794760"/>
            <a:ext cx="914400" cy="9144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12" name="Image 0" descr="/Users/Lucas-Lenovo/Vero - Escola de Empresários/_contexto/logos/vero-v-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3995928"/>
            <a:ext cx="548640" cy="4731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921240" y="3886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869680" y="461772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Vero. Do italiano: verdadeiro.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 Tributária para Corretores de Imóveis</dc:title>
  <dc:subject>PptxGenJS Presentation</dc:subject>
  <dc:creator>Vero — Escola de Empresários</dc:creator>
  <cp:lastModifiedBy>Vero — Escola de Empresários</cp:lastModifiedBy>
  <cp:revision>1</cp:revision>
  <dcterms:created xsi:type="dcterms:W3CDTF">2026-06-26T23:09:43Z</dcterms:created>
  <dcterms:modified xsi:type="dcterms:W3CDTF">2026-06-26T23:09:43Z</dcterms:modified>
</cp:coreProperties>
</file>