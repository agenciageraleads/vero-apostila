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75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312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917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· LUCAS · ERNANE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conduz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· TREINAMENTOS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improviso e forma quem opera com critério. Uma escola para empresários de verdade.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[sobrenome]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Ernane [sobrenome]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campos com [ ] serão preenchidos com a trajetória de Lucas e Ernane.</a:t>
            </a:r>
            <a:endParaRPr lang="en-US" sz="100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DINHEIRO DO CORRETOR MUDOU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9728" cy="17373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574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já fechou uma venda excelente, recebeu uma comissão excelente — e três meses depois não sabia pra onde o dinheiro foi?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4526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D4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Tributária não muda só imposto. 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muda quanto sobra do que você ganha.</a:t>
            </a:r>
            <a:endParaRPr lang="en-US" sz="2200" dirty="0"/>
          </a:p>
        </p:txBody>
      </p:sp>
      <p:pic>
        <p:nvPicPr>
          <p:cNvPr id="6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e IBS começam a ser cobrados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antigos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 único em pleno funcionamento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pra amanhã — mas começa agora. Quem se prepara cedo decide com calma; quem espera, decide no susto.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Vários impostos viram um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PIS e COFINS num imposto só.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MUNICÍPIOS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ICMS e ISS — o ISS é o que você paga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Seletivo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sobre produtos específicos (cigarro, bebida...). Não é o seu caso.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Juntos, CBS + IBS formam o novo imposto sobre consumo. A alíquota de referência estimada é ~26,5%.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MUDANÇAS QUE IMPORTAM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42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 o imposto sobre imposto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5420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compra de quem também paga imposto vira desconto. Esse desconto é o 'crédito'.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4962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imposto vai pra onde está o cliente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84962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 mais onde você é registrado — e sim onde o cliente está.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57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quase não tem o que descontar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15721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vende o seu trabalho, não mercadoria. Por isso o serviço sente mais.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SETOR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GANHAR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insumo para descontar. Paga sobre menos.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32004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MARGEM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o que descontar, mas a concorrência aperta o preço.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3200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para descontar. A alíquota sobe.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</a:t>
            </a: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O lado mais pressionado da reforma.</a:t>
            </a:r>
            <a:endParaRPr lang="en-US" sz="160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QUASE NADA VIRA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vende conhecimento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= comissão. E quase nada do que você compra gera desconto de imposto.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310896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Comissão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8404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vende captação, negociação e fechamento. Serviço puro — sem mercadoria no meio.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484632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24028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COMPRA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e internet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portais de anúncio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 anúncios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e combustível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disso vira crédito.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vende produto desconta o que compra. Você vende conhecimento — e quase não tem o que </a:t>
            </a:r>
            <a:r>
              <a:rPr lang="en-US" sz="1300" i="1" dirty="0" err="1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descontar</a:t>
            </a: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o serviço paga sobre quase tudo que entra (IVA de referência ~26,5%).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NO SEU BOLSO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comissão: hoje x depois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PJ no Lucro Presumido · R$ 20.000/mês em comissões · só os impostos que a reforma troca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83280" cy="26517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R$ 1.730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5% → R$ 1.000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R$ 730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383280" cy="265176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R$ 5.300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 26,5% → R$ 5.300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 descontar: ≈ R$ 0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240280"/>
            <a:ext cx="2834640" cy="265176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3x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50392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 sobre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8,65% para 26,5%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só de ISS/PIS/COFINS → IBS/CBS. Imposto de Renda é outra conta. E a conta muda conforme o seu caso — é o próximo slide.</a:t>
            </a:r>
            <a:endParaRPr lang="en-US" sz="125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EM PÂNICO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depende do seu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22860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 (carnê/RPA)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ficar de fora do IBS/CBS — paga IRPF e INSS, não o novo imposto.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21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não pode (CRECI). Já é uma decisão tomada por você.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Simples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no Simples. No dia a dia, muda pouco.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286000" cy="27432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2286000"/>
            <a:ext cx="2286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Lucro Presumido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aqui que a conta sobe — o caso do slide anterior.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a corretagem NÃO está na lista das profissões com redução de 30%</a:t>
            </a: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(advogado, médico, engenheiro...). 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paga a alíquota cheia.  </a:t>
            </a:r>
            <a:r>
              <a:rPr lang="en-US" sz="125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[LC 214/2025, art. 127]</a:t>
            </a:r>
            <a:endParaRPr lang="en-US" sz="1250" dirty="0"/>
          </a:p>
        </p:txBody>
      </p:sp>
      <p:pic>
        <p:nvPicPr>
          <p:cNvPr id="22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 NO DIA A DIA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carteira de locação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aluguel de R$ 2.500/mês · imobiliária administra (taxa 10% = R$ 250) · confirme os números com seu contador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DE ADMINISTRAÇÃO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R$ 250 / mês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serviço da imobiliária — hoje ISS ~2–5%.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entra na alíquota cheia de IBS/CBS.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mordida na sua taxa de administração sobe.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R$ 2.500 /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residencial: redução de 70% na alíquota → efetiva ~7,95%.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Redutor social de R$ 600 por imóvel na base; pequeno locador pode ficar de fora.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absorve: proprietário, inquilino ou a margem da imobiliária?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locação, a conta tem dois donos: o serviço da imobiliária e o </a:t>
            </a:r>
            <a:r>
              <a:rPr lang="en-US" sz="1350" i="1" dirty="0" err="1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</a:t>
            </a: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souber quem absorve a alta, descobre no reajuste.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1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</a:t>
            </a:r>
          </a:p>
          <a:p>
            <a:pPr marL="0" indent="0">
              <a:buNone/>
            </a:pPr>
            <a:endParaRPr lang="en-US" b="1" dirty="0">
              <a:solidFill>
                <a:srgbClr val="052B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gente opera achando que pode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são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retido na fonte quando o total mensal de uma mesma empresa passar de R$ 50 mil.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 com o corretor despreparado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 mais imposto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sobe e a margem encolhe sem ele perceber.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Precifica errado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entender a nova conta, erra a comissão e o repasse.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se adaptou fecha o negócio que ele perde.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 gastando como antes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diminui — o padrão de vida, não.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…e descobre tudo isso tarde demais.</a:t>
            </a:r>
            <a:endParaRPr lang="en-US" sz="1800" dirty="0"/>
          </a:p>
        </p:txBody>
      </p:sp>
      <p:pic>
        <p:nvPicPr>
          <p:cNvPr id="21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OUTRO LADO DA MESMA MOEDA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preparado faz 4 coisas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89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 com o contador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89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Descobre, no caso dele, o que muda — antes de a regra pegar.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221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os contratos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8221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comissão, repasse e cláusulas à nova conta.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53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 o próprio regime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653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Autônomo, Simples ou PJ — escolhe com critério, não no susto.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37744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085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Protege o caixa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085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ganhar mais não é o mesmo que ficar com mais.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“Proteger o caixa” é a ponte: a reforma decide quanto entra; o que sobra, quem decide é você.</a:t>
            </a:r>
            <a:endParaRPr lang="en-US" sz="1300" dirty="0"/>
          </a:p>
        </p:txBody>
      </p:sp>
      <p:pic>
        <p:nvPicPr>
          <p:cNvPr id="25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SAIA DAQUI COM TAREFA, NÃO COM SUSTO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perguntas pro seu contador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meu caso, vou pagar mais?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meu enquadramento (autônomo, Simples ou PJ), a reforma sobe a minha conta?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mudar de regime?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Lucro Presumido, virar PJ — o que me protege melhor?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minha carteira de locação?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aluguéis que eu administro e o imposto sobre eles?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faço nos próximos 90 dias?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primeiro passo que não pode esperar?</a:t>
            </a:r>
            <a:endParaRPr lang="en-US" sz="1200" dirty="0"/>
          </a:p>
        </p:txBody>
      </p:sp>
      <p:pic>
        <p:nvPicPr>
          <p:cNvPr id="2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IMPACTO DA REFORMA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do Diagnóstico e descubra, no seu caso, onde a reforma ajuda,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 PESSOAIS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109728" cy="17373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dinheiro que entra… </a:t>
            </a:r>
            <a:r>
              <a:rPr lang="en-US" sz="4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some.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agora falamos do dinheiro que pode deixar de entrar. Agora, do dinheiro que entra — e desaparece.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434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comissão líquida cai, sua margem pra errar cai junto. O problema de muito corretor não é faturamento — é fluxo: recebe muito, gasta muito, fica meses sem vender.</a:t>
            </a:r>
            <a:endParaRPr lang="en-US" sz="1500" dirty="0"/>
          </a:p>
        </p:txBody>
      </p:sp>
      <p:pic>
        <p:nvPicPr>
          <p:cNvPr id="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CORRETOR SE PERDE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erros que mais custam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da empresa não é a sua conta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cai na conta e some misturada com o pessoal. Você nunca sabe quanto a empresa deu — nem quanto você custa.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Renda variável, boletos fixos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3 vendas, mês de zero. Quem gasta no ritmo do mês bom quebra no mês seco. Critério: pagar-se um pró-labore fixo.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Improviso na vida pessoal vira pressão no negócio.</a:t>
            </a:r>
            <a:endParaRPr lang="en-US" sz="1500" dirty="0"/>
          </a:p>
        </p:txBody>
      </p:sp>
      <p:pic>
        <p:nvPicPr>
          <p:cNvPr id="15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TE TIRA DO ESCURO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número e sua reserva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VIDA MÍNIMO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sua vida custa por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número de comissões que você é obrigado a fechar para se manter vivo. Quem não sabe o próprio número, vende no escuro.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OSCILAÇÃO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luxo. É o caixa do mês seco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mês bom o que paga o mês fraco. Diferente da reserva de emergência, que cobre o imprevisto — não a sazonalidade.</a:t>
            </a:r>
            <a:endParaRPr lang="en-US" sz="1300" dirty="0"/>
          </a:p>
        </p:txBody>
      </p:sp>
      <p:pic>
        <p:nvPicPr>
          <p:cNvPr id="1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DA COMUNIDADE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ferramenta começa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03504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CONTROLE DE GASTOS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seu custo de vida mínimo, % por categoria e reserva.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já com exemplos do dia a dia do corretor.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passo para parar de improvisar em casa.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ou Google Sheets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no celular ou no computador. Você preenche, ela mostra onde o dinheiro vaza.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na comunidade →</a:t>
            </a:r>
            <a:endParaRPr lang="en-US" sz="1200" dirty="0"/>
          </a:p>
        </p:txBody>
      </p:sp>
      <p:pic>
        <p:nvPicPr>
          <p:cNvPr id="12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PASSOS, UNS 10 MINUTOS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preencher a planilha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pelos campos em amarelo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renda do mês e quanto você já tem de reserva. Só isso já te dá o diagnóstico.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 seus gastos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Lançamentos: data, categoria, valor — e marque se é fixo (todo mês) ou variável. As categorias já vêm prontas.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Leia o Painel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se monta sozinho: seu custo de vida mínimo, pra onde o dinheiro vai e quanto falta pra sua reserva.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estar perfeito. Comece com uma semana de gastos — o resto vem.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0149" cy="2708366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745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Vocês vieram achando que era uma palestra sobre </a:t>
            </a:r>
            <a:r>
              <a:rPr lang="en-US" sz="2500" b="1" i="1" dirty="0" err="1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impostos</a:t>
            </a:r>
            <a:r>
              <a:rPr lang="en-US" sz="25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</a:p>
          <a:p>
            <a:pPr marL="0" indent="0">
              <a:buNone/>
            </a:pPr>
            <a:endParaRPr lang="en-US" sz="2500" b="1" i="1" dirty="0">
              <a:solidFill>
                <a:srgbClr val="052B5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25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uma palestra sobre uma decisão.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31318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sobra menos, quem administra no improviso sente na hora.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aprende a cuidar do que ganha se sustenta — mesmo pagando mais.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480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vai apertar a comissão de muita gente. E vai revelar quem sabe administrar o próprio negócio.</a:t>
            </a:r>
            <a:endParaRPr lang="en-US" sz="1900" dirty="0"/>
          </a:p>
        </p:txBody>
      </p:sp>
      <p:pic>
        <p:nvPicPr>
          <p:cNvPr id="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DE NEGÓCIOS · TREINAMENTOS MODULARES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79975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materiais, os próximos módulos — e a planilha de controle de gastos de bônus.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da Comunidade do WhatsApp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3794760"/>
            <a:ext cx="914400" cy="9144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995928"/>
            <a:ext cx="548640" cy="4731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9212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461772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Vero. Do italiano: verdadeiro.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2323</Words>
  <Application>Microsoft Macintosh PowerPoint</Application>
  <PresentationFormat>Widescreen</PresentationFormat>
  <Paragraphs>341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 — v3</dc:title>
  <dc:subject>PptxGenJS Presentation</dc:subject>
  <dc:creator>Vero — Escola de Empresários</dc:creator>
  <cp:lastModifiedBy>Lucas Borges</cp:lastModifiedBy>
  <cp:revision>2</cp:revision>
  <dcterms:created xsi:type="dcterms:W3CDTF">2026-06-27T00:22:43Z</dcterms:created>
  <dcterms:modified xsi:type="dcterms:W3CDTF">2026-06-27T00:43:48Z</dcterms:modified>
</cp:coreProperties>
</file>